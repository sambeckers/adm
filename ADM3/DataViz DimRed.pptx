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8"/>
  </p:notesMasterIdLst>
  <p:sldIdLst>
    <p:sldId id="256" r:id="rId2"/>
    <p:sldId id="282" r:id="rId3"/>
    <p:sldId id="413" r:id="rId4"/>
    <p:sldId id="415" r:id="rId5"/>
    <p:sldId id="416" r:id="rId6"/>
    <p:sldId id="418" r:id="rId7"/>
    <p:sldId id="419" r:id="rId8"/>
    <p:sldId id="281" r:id="rId9"/>
    <p:sldId id="420" r:id="rId10"/>
    <p:sldId id="421" r:id="rId11"/>
    <p:sldId id="422" r:id="rId12"/>
    <p:sldId id="423" r:id="rId13"/>
    <p:sldId id="436" r:id="rId14"/>
    <p:sldId id="438" r:id="rId15"/>
    <p:sldId id="437" r:id="rId16"/>
    <p:sldId id="424" r:id="rId17"/>
    <p:sldId id="429" r:id="rId18"/>
    <p:sldId id="427" r:id="rId19"/>
    <p:sldId id="426" r:id="rId20"/>
    <p:sldId id="435" r:id="rId21"/>
    <p:sldId id="425" r:id="rId22"/>
    <p:sldId id="428" r:id="rId23"/>
    <p:sldId id="430" r:id="rId24"/>
    <p:sldId id="431" r:id="rId25"/>
    <p:sldId id="266" r:id="rId26"/>
    <p:sldId id="268" r:id="rId27"/>
    <p:sldId id="259" r:id="rId28"/>
    <p:sldId id="261" r:id="rId29"/>
    <p:sldId id="260" r:id="rId30"/>
    <p:sldId id="432" r:id="rId31"/>
    <p:sldId id="262" r:id="rId32"/>
    <p:sldId id="263" r:id="rId33"/>
    <p:sldId id="267" r:id="rId34"/>
    <p:sldId id="434" r:id="rId35"/>
    <p:sldId id="264" r:id="rId36"/>
    <p:sldId id="26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1"/>
    <p:restoredTop sz="95574"/>
  </p:normalViewPr>
  <p:slideViewPr>
    <p:cSldViewPr snapToGrid="0" snapToObjects="1">
      <p:cViewPr varScale="1">
        <p:scale>
          <a:sx n="100" d="100"/>
          <a:sy n="100" d="100"/>
        </p:scale>
        <p:origin x="16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2FDFD-9333-4E40-AF48-0FCA0DA79036}" type="datetimeFigureOut">
              <a:rPr lang="en-NL" smtClean="0"/>
              <a:t>01/10/2024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47F97-828E-6342-98BC-52D9FF713FF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028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Scott’s and Silverman rule are more complex with higher dimensions. These formulas are just for d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47F97-828E-6342-98BC-52D9FF713FFA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9697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47F97-828E-6342-98BC-52D9FF713FFA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53780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47F97-828E-6342-98BC-52D9FF713FFA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88818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47F97-828E-6342-98BC-52D9FF713FFA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2574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Source: </a:t>
            </a:r>
            <a:r>
              <a:rPr lang="en-GB" dirty="0"/>
              <a:t>https://</a:t>
            </a:r>
            <a:r>
              <a:rPr lang="en-GB" dirty="0" err="1"/>
              <a:t>en.wikipedia.org</a:t>
            </a:r>
            <a:r>
              <a:rPr lang="en-GB" dirty="0"/>
              <a:t>/wiki/</a:t>
            </a:r>
            <a:r>
              <a:rPr lang="en-GB" dirty="0" err="1"/>
              <a:t>Principal_component_analysis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47F97-828E-6342-98BC-52D9FF713FFA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689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StandardScaler does a z-transform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47F97-828E-6342-98BC-52D9FF713FFA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6814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eigenvector = direction of the components</a:t>
            </a:r>
          </a:p>
          <a:p>
            <a:r>
              <a:rPr lang="en-NL" b="0" dirty="0"/>
              <a:t>eigenvalue = </a:t>
            </a:r>
            <a:r>
              <a:rPr lang="en-GB" b="0" dirty="0"/>
              <a:t>amount of variance captured by each component</a:t>
            </a:r>
            <a:endParaRPr lang="en-N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47F97-828E-6342-98BC-52D9FF713FFA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38670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84F58C5-504E-A896-324F-0AE740809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22F61C-AA32-E149-B33F-0CF16ACA1F29}" type="slidenum">
              <a:rPr lang="en-US" altLang="en-NL" smtClean="0">
                <a:latin typeface="Times" pitchFamily="2" charset="0"/>
              </a:rPr>
              <a:pPr/>
              <a:t>24</a:t>
            </a:fld>
            <a:endParaRPr lang="en-US" altLang="en-NL">
              <a:latin typeface="Times" pitchFamily="2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C78E073F-8DB2-51BF-AB92-87659D07ED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B1E772D0-78A0-07E3-394F-6E10075F9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nl-NL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0DB70E-EB0C-4E4A-8CBE-763DB3585B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125" y="6063918"/>
            <a:ext cx="2188657" cy="69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4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9144000" cy="761030"/>
          </a:xfrm>
        </p:spPr>
        <p:txBody>
          <a:bodyPr/>
          <a:lstStyle>
            <a:lvl1pPr algn="ctr">
              <a:defRPr b="1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9785"/>
            <a:ext cx="7886700" cy="53805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877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761030"/>
          </a:xfrm>
        </p:spPr>
        <p:txBody>
          <a:bodyPr/>
          <a:lstStyle>
            <a:lvl1pPr algn="ctr"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1A6427-87A9-E245-938E-A1E814293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8988" y="6492874"/>
            <a:ext cx="3850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85F59-D6FC-5047-B8EE-2B81AB70F1B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232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098DD2-EA21-0245-BC69-4F8057FAA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9364" y="6492875"/>
            <a:ext cx="394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85F59-D6FC-5047-B8EE-2B81AB70F1B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4463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D3198-DFC2-E64E-A6DE-A679ACF5C728}" type="datetimeFigureOut">
              <a:rPr lang="en-NL" smtClean="0"/>
              <a:t>01/10/2024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85F59-D6FC-5047-B8EE-2B81AB70F1B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455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8BE1-9899-DE49-B3A4-50892D98B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Data Visualisation and Dimensionality Reduction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A94C1E9-0B97-E184-EEE4-2E525668B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4670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DEB83FB0-9A58-4E3D-7739-750A3D903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NL"/>
              <a:t>Histograms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2D073B36-432D-257D-2705-35039F4904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NL" sz="1800" dirty="0"/>
              <a:t>Estimate density in a discrete way</a:t>
            </a:r>
          </a:p>
          <a:p>
            <a:r>
              <a:rPr lang="en-GB" altLang="en-NL" sz="1800" dirty="0"/>
              <a:t>Define cut points and count occurrences within bins</a:t>
            </a:r>
          </a:p>
          <a:p>
            <a:r>
              <a:rPr lang="en-GB" altLang="en-NL" sz="1800" dirty="0"/>
              <a:t>How to choose cut points</a:t>
            </a:r>
          </a:p>
          <a:p>
            <a:pPr lvl="1"/>
            <a:r>
              <a:rPr lang="en-GB" altLang="en-NL" sz="1600" b="1" dirty="0"/>
              <a:t>equal width</a:t>
            </a:r>
            <a:r>
              <a:rPr lang="en-GB" altLang="en-NL" sz="1600" dirty="0"/>
              <a:t>: cut domain (min-&gt;max) up in</a:t>
            </a:r>
            <a:r>
              <a:rPr lang="en-GB" altLang="en-NL" sz="1800" dirty="0">
                <a:latin typeface="Times" pitchFamily="2" charset="0"/>
              </a:rPr>
              <a:t> </a:t>
            </a:r>
            <a:r>
              <a:rPr lang="en-GB" altLang="en-NL" sz="1800" i="1" dirty="0">
                <a:latin typeface="Times" pitchFamily="2" charset="0"/>
              </a:rPr>
              <a:t>k</a:t>
            </a:r>
            <a:r>
              <a:rPr lang="en-GB" altLang="en-NL" sz="1800" dirty="0">
                <a:latin typeface="Times" pitchFamily="2" charset="0"/>
              </a:rPr>
              <a:t> </a:t>
            </a:r>
            <a:r>
              <a:rPr lang="en-GB" altLang="en-NL" sz="1600" dirty="0"/>
              <a:t>equal size intervals</a:t>
            </a:r>
          </a:p>
          <a:p>
            <a:pPr lvl="1"/>
            <a:r>
              <a:rPr lang="en-GB" altLang="en-NL" sz="1600" b="1" dirty="0"/>
              <a:t>equal height</a:t>
            </a:r>
            <a:r>
              <a:rPr lang="en-GB" altLang="en-NL" sz="1600" dirty="0"/>
              <a:t>: select </a:t>
            </a:r>
            <a:r>
              <a:rPr lang="en-GB" altLang="en-NL" sz="1800" i="1" dirty="0">
                <a:latin typeface="Times" pitchFamily="2" charset="0"/>
              </a:rPr>
              <a:t>k</a:t>
            </a:r>
            <a:r>
              <a:rPr lang="en-GB" altLang="en-NL" sz="1600" dirty="0"/>
              <a:t> cut points such that all bins contain (approximately) </a:t>
            </a:r>
            <a:r>
              <a:rPr lang="en-GB" altLang="en-NL" sz="1800" i="1" dirty="0">
                <a:latin typeface="Times" pitchFamily="2" charset="0"/>
              </a:rPr>
              <a:t>n</a:t>
            </a:r>
            <a:r>
              <a:rPr lang="en-GB" altLang="en-NL" sz="1800" dirty="0">
                <a:latin typeface="Times" pitchFamily="2" charset="0"/>
              </a:rPr>
              <a:t>/</a:t>
            </a:r>
            <a:r>
              <a:rPr lang="en-GB" altLang="en-NL" sz="1800" i="1" dirty="0">
                <a:latin typeface="Times" pitchFamily="2" charset="0"/>
              </a:rPr>
              <a:t>k</a:t>
            </a:r>
            <a:r>
              <a:rPr lang="en-GB" altLang="en-NL" sz="1600" dirty="0"/>
              <a:t> data points (maximises entropy)</a:t>
            </a:r>
          </a:p>
          <a:p>
            <a:pPr lvl="1"/>
            <a:endParaRPr lang="en-GB" altLang="en-NL" sz="1600" dirty="0"/>
          </a:p>
        </p:txBody>
      </p:sp>
      <p:pic>
        <p:nvPicPr>
          <p:cNvPr id="19459" name="Picture 3" descr="livinghistogram.jpg">
            <a:extLst>
              <a:ext uri="{FF2B5EF4-FFF2-40B4-BE49-F238E27FC236}">
                <a16:creationId xmlns:a16="http://schemas.microsoft.com/office/drawing/2014/main" id="{C713C1C0-0900-8CF1-5AD4-42C03A56C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7" r="2428"/>
          <a:stretch>
            <a:fillRect/>
          </a:stretch>
        </p:blipFill>
        <p:spPr bwMode="auto">
          <a:xfrm>
            <a:off x="646783" y="3619500"/>
            <a:ext cx="7743156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32BA09-161B-F394-5F97-53A55A13EBAA}"/>
              </a:ext>
            </a:extLst>
          </p:cNvPr>
          <p:cNvSpPr txBox="1"/>
          <p:nvPr/>
        </p:nvSpPr>
        <p:spPr>
          <a:xfrm>
            <a:off x="3962400" y="6464300"/>
            <a:ext cx="1170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equal width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Histograms (EW, bins = 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7410" y="1289050"/>
            <a:ext cx="6169179" cy="538162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6FC463-73A4-3FA5-D17D-4CB209D51979}"/>
              </a:ext>
            </a:extLst>
          </p:cNvPr>
          <p:cNvSpPr txBox="1"/>
          <p:nvPr/>
        </p:nvSpPr>
        <p:spPr>
          <a:xfrm>
            <a:off x="2387600" y="6248400"/>
            <a:ext cx="433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age distribution in German Credit Data (UCI)</a:t>
            </a:r>
          </a:p>
        </p:txBody>
      </p:sp>
    </p:spTree>
    <p:extLst>
      <p:ext uri="{BB962C8B-B14F-4D97-AF65-F5344CB8AC3E}">
        <p14:creationId xmlns:p14="http://schemas.microsoft.com/office/powerpoint/2010/main" val="205360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Histograms (bins = 10)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87410" y="1289050"/>
            <a:ext cx="6169179" cy="5381625"/>
          </a:xfrm>
        </p:spPr>
      </p:pic>
    </p:spTree>
    <p:extLst>
      <p:ext uri="{BB962C8B-B14F-4D97-AF65-F5344CB8AC3E}">
        <p14:creationId xmlns:p14="http://schemas.microsoft.com/office/powerpoint/2010/main" val="345063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Histograms (bins = 56)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87410" y="1289050"/>
            <a:ext cx="6169179" cy="5381625"/>
          </a:xfrm>
        </p:spPr>
      </p:pic>
    </p:spTree>
    <p:extLst>
      <p:ext uri="{BB962C8B-B14F-4D97-AF65-F5344CB8AC3E}">
        <p14:creationId xmlns:p14="http://schemas.microsoft.com/office/powerpoint/2010/main" val="194428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Histograms (bins = 60, +4)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87410" y="1289050"/>
            <a:ext cx="6169179" cy="5381625"/>
          </a:xfr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C0926-ACA4-D6B6-2626-7F7AB2A5178A}"/>
              </a:ext>
            </a:extLst>
          </p:cNvPr>
          <p:cNvGrpSpPr/>
          <p:nvPr/>
        </p:nvGrpSpPr>
        <p:grpSpPr>
          <a:xfrm>
            <a:off x="3709115" y="3068924"/>
            <a:ext cx="2588654" cy="2185656"/>
            <a:chOff x="3709115" y="3068924"/>
            <a:chExt cx="2588654" cy="2185656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6E769EF-767E-CE50-D4FE-4EBBDDFA9846}"/>
                </a:ext>
              </a:extLst>
            </p:cNvPr>
            <p:cNvCxnSpPr/>
            <p:nvPr/>
          </p:nvCxnSpPr>
          <p:spPr>
            <a:xfrm flipH="1">
              <a:off x="3709115" y="3322749"/>
              <a:ext cx="991674" cy="965916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0E7B6B8-807F-408E-116B-BAB10C9EE5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3515" y="3400023"/>
              <a:ext cx="167426" cy="139091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68FFB7A-DD63-46DC-F21B-58D477E54385}"/>
                </a:ext>
              </a:extLst>
            </p:cNvPr>
            <p:cNvCxnSpPr>
              <a:cxnSpLocks/>
            </p:cNvCxnSpPr>
            <p:nvPr/>
          </p:nvCxnSpPr>
          <p:spPr>
            <a:xfrm>
              <a:off x="4945487" y="3412901"/>
              <a:ext cx="566671" cy="171289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D3AB205-E516-50C4-87ED-1F67396105B7}"/>
                </a:ext>
              </a:extLst>
            </p:cNvPr>
            <p:cNvCxnSpPr>
              <a:cxnSpLocks/>
            </p:cNvCxnSpPr>
            <p:nvPr/>
          </p:nvCxnSpPr>
          <p:spPr>
            <a:xfrm>
              <a:off x="5087155" y="3387144"/>
              <a:ext cx="1210614" cy="1867436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E7EF1C-8F19-D217-B280-DF4C7E371DED}"/>
                </a:ext>
              </a:extLst>
            </p:cNvPr>
            <p:cNvSpPr txBox="1"/>
            <p:nvPr/>
          </p:nvSpPr>
          <p:spPr>
            <a:xfrm>
              <a:off x="4399359" y="3068924"/>
              <a:ext cx="956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1400" dirty="0"/>
                <a:t>4 artefacts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368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Histograms (bins = 52, -4)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87410" y="1289050"/>
            <a:ext cx="6169179" cy="5381625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C555397-B019-B03B-7F30-E5D53C422EFE}"/>
              </a:ext>
            </a:extLst>
          </p:cNvPr>
          <p:cNvGrpSpPr/>
          <p:nvPr/>
        </p:nvGrpSpPr>
        <p:grpSpPr>
          <a:xfrm>
            <a:off x="3761772" y="2559637"/>
            <a:ext cx="2685327" cy="2567948"/>
            <a:chOff x="3703897" y="3068924"/>
            <a:chExt cx="2685327" cy="256794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1286788-0C42-1DC1-02A7-27D11963AC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3897" y="3322749"/>
              <a:ext cx="996892" cy="520047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1A42493-6D02-2003-D7D3-207ADC6526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8297" y="3400023"/>
              <a:ext cx="172644" cy="151921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58989A-9AA4-A108-1489-46B2C11A50FC}"/>
                </a:ext>
              </a:extLst>
            </p:cNvPr>
            <p:cNvCxnSpPr>
              <a:cxnSpLocks/>
            </p:cNvCxnSpPr>
            <p:nvPr/>
          </p:nvCxnSpPr>
          <p:spPr>
            <a:xfrm>
              <a:off x="4945487" y="3412901"/>
              <a:ext cx="587210" cy="2131373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2EB06EB-6B7B-4330-B2EC-6E98462AEE08}"/>
                </a:ext>
              </a:extLst>
            </p:cNvPr>
            <p:cNvCxnSpPr>
              <a:cxnSpLocks/>
            </p:cNvCxnSpPr>
            <p:nvPr/>
          </p:nvCxnSpPr>
          <p:spPr>
            <a:xfrm>
              <a:off x="5087155" y="3387144"/>
              <a:ext cx="1302069" cy="224972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8BA7AE-D9AD-6732-C620-85D982DF1E27}"/>
                </a:ext>
              </a:extLst>
            </p:cNvPr>
            <p:cNvSpPr txBox="1"/>
            <p:nvPr/>
          </p:nvSpPr>
          <p:spPr>
            <a:xfrm>
              <a:off x="4399359" y="3068924"/>
              <a:ext cx="956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1400" dirty="0"/>
                <a:t>4 artefacts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469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1F93F3D4-BF0D-9B9C-ED85-E1DB14919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NL"/>
              <a:t>Kernel Density Estimation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5B6FFBF2-06D4-D63D-9BB0-87F4658A3A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NL" sz="2000" dirty="0"/>
              <a:t>Estimating the density (of the population) from the sample</a:t>
            </a:r>
          </a:p>
          <a:p>
            <a:r>
              <a:rPr lang="en-GB" altLang="en-NL" sz="2000" dirty="0"/>
              <a:t>Observed data is smoothed over numeric domain by means of a kernel (often Gaussian)</a:t>
            </a:r>
          </a:p>
        </p:txBody>
      </p:sp>
      <p:pic>
        <p:nvPicPr>
          <p:cNvPr id="5" name="Picture 4" descr="KDE_tut_normal.png">
            <a:extLst>
              <a:ext uri="{FF2B5EF4-FFF2-40B4-BE49-F238E27FC236}">
                <a16:creationId xmlns:a16="http://schemas.microsoft.com/office/drawing/2014/main" id="{B589F21A-4273-C312-4BFF-1A5FEB401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403600"/>
            <a:ext cx="3871912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5" descr="9059638359_e32bf81da6_o.gif">
            <a:extLst>
              <a:ext uri="{FF2B5EF4-FFF2-40B4-BE49-F238E27FC236}">
                <a16:creationId xmlns:a16="http://schemas.microsoft.com/office/drawing/2014/main" id="{30249FD4-C099-0B93-1698-FBA1782DD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5" y="3719513"/>
            <a:ext cx="3122613" cy="263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sz="4000" dirty="0"/>
              <a:t>Guessing the Right Bandwidth </a:t>
            </a:r>
            <a:r>
              <a:rPr lang="en-NL" sz="4000" i="1" dirty="0"/>
              <a:t>h</a:t>
            </a:r>
            <a:r>
              <a:rPr lang="en-NL" sz="4000" dirty="0"/>
              <a:t> in KDE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9804" t="13771" r="10814" b="18831"/>
          <a:stretch/>
        </p:blipFill>
        <p:spPr>
          <a:xfrm>
            <a:off x="2143760" y="2712721"/>
            <a:ext cx="4897120" cy="362712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35E9BA-B026-E87D-0EE3-110AD52626CF}"/>
                  </a:ext>
                </a:extLst>
              </p:cNvPr>
              <p:cNvSpPr txBox="1"/>
              <p:nvPr/>
            </p:nvSpPr>
            <p:spPr>
              <a:xfrm>
                <a:off x="3116688" y="1184853"/>
                <a:ext cx="3506729" cy="484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400" b="0" dirty="0" err="1"/>
                  <a:t>Scott’s</a:t>
                </a:r>
                <a:r>
                  <a:rPr lang="nl-NL" sz="2400" b="0" dirty="0"/>
                  <a:t> </a:t>
                </a:r>
                <a:r>
                  <a:rPr lang="nl-NL" sz="2400" b="0" dirty="0" err="1"/>
                  <a:t>Rule</a:t>
                </a:r>
                <a:r>
                  <a:rPr lang="nl-NL" sz="2400" b="0" dirty="0"/>
                  <a:t>: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endParaRPr lang="en-N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35E9BA-B026-E87D-0EE3-110AD5262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688" y="1184853"/>
                <a:ext cx="3506729" cy="484684"/>
              </a:xfrm>
              <a:prstGeom prst="rect">
                <a:avLst/>
              </a:prstGeom>
              <a:blipFill>
                <a:blip r:embed="rId4"/>
                <a:stretch>
                  <a:fillRect l="-2527" t="-89744" r="-722" b="-100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C4ED3D-A0AF-AD52-2CC3-81635792495F}"/>
                  </a:ext>
                </a:extLst>
              </p:cNvPr>
              <p:cNvSpPr txBox="1"/>
              <p:nvPr/>
            </p:nvSpPr>
            <p:spPr>
              <a:xfrm>
                <a:off x="3333484" y="1749379"/>
                <a:ext cx="3196131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=11.37∙</m:t>
                      </m:r>
                      <m:sSup>
                        <m:sSup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e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sup>
                      </m:sSup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=2.854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C4ED3D-A0AF-AD52-2CC3-816357924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484" y="1749379"/>
                <a:ext cx="3196131" cy="386452"/>
              </a:xfrm>
              <a:prstGeom prst="rect">
                <a:avLst/>
              </a:prstGeom>
              <a:blipFill>
                <a:blip r:embed="rId5"/>
                <a:stretch>
                  <a:fillRect t="-80645" b="-9677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809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sz="4400" dirty="0"/>
              <a:t>Guessing the Right Bandwidth </a:t>
            </a:r>
            <a:r>
              <a:rPr lang="en-NL" sz="4400" i="1" dirty="0"/>
              <a:t>h</a:t>
            </a:r>
            <a:r>
              <a:rPr lang="en-NL" sz="4400" dirty="0"/>
              <a:t> in KDE</a:t>
            </a:r>
            <a:endParaRPr lang="en-NL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9968" t="13582" r="9992" b="19020"/>
          <a:stretch/>
        </p:blipFill>
        <p:spPr>
          <a:xfrm>
            <a:off x="2153920" y="2702561"/>
            <a:ext cx="4937760" cy="362712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35E9BA-B026-E87D-0EE3-110AD52626CF}"/>
                  </a:ext>
                </a:extLst>
              </p:cNvPr>
              <p:cNvSpPr txBox="1"/>
              <p:nvPr/>
            </p:nvSpPr>
            <p:spPr>
              <a:xfrm>
                <a:off x="2305319" y="1159095"/>
                <a:ext cx="4507131" cy="484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400" b="0" dirty="0"/>
                  <a:t>Silverman’s </a:t>
                </a:r>
                <a:r>
                  <a:rPr lang="nl-NL" sz="2400" b="0" dirty="0" err="1"/>
                  <a:t>Rule</a:t>
                </a:r>
                <a:r>
                  <a:rPr lang="nl-NL" sz="2400" b="0" dirty="0"/>
                  <a:t>: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endParaRPr lang="en-N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35E9BA-B026-E87D-0EE3-110AD5262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319" y="1159095"/>
                <a:ext cx="4507131" cy="484684"/>
              </a:xfrm>
              <a:prstGeom prst="rect">
                <a:avLst/>
              </a:prstGeom>
              <a:blipFill>
                <a:blip r:embed="rId4"/>
                <a:stretch>
                  <a:fillRect l="-2247" t="-117949" r="-281" b="-18205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C4ED3D-A0AF-AD52-2CC3-81635792495F}"/>
                  </a:ext>
                </a:extLst>
              </p:cNvPr>
              <p:cNvSpPr txBox="1"/>
              <p:nvPr/>
            </p:nvSpPr>
            <p:spPr>
              <a:xfrm>
                <a:off x="3333484" y="1749379"/>
                <a:ext cx="233852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750</m:t>
                          </m:r>
                        </m:e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sup>
                      </m:sSup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=0.266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C4ED3D-A0AF-AD52-2CC3-816357924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484" y="1749379"/>
                <a:ext cx="2338525" cy="386452"/>
              </a:xfrm>
              <a:prstGeom prst="rect">
                <a:avLst/>
              </a:prstGeom>
              <a:blipFill>
                <a:blip r:embed="rId5"/>
                <a:stretch>
                  <a:fillRect t="-80645" b="-9677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866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Smaller Bandwidths</a:t>
            </a:r>
            <a:endParaRPr lang="en-NL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0298" t="14148" r="13121" b="19020"/>
          <a:stretch/>
        </p:blipFill>
        <p:spPr>
          <a:xfrm>
            <a:off x="2174240" y="2733041"/>
            <a:ext cx="4724400" cy="359664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C4ED3D-A0AF-AD52-2CC3-81635792495F}"/>
                  </a:ext>
                </a:extLst>
              </p:cNvPr>
              <p:cNvSpPr txBox="1"/>
              <p:nvPr/>
            </p:nvSpPr>
            <p:spPr>
              <a:xfrm>
                <a:off x="4286520" y="1788016"/>
                <a:ext cx="975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C4ED3D-A0AF-AD52-2CC3-816357924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520" y="1788016"/>
                <a:ext cx="9757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756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226-B61A-28C6-0EB1-8BF9E8F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Kernel Density Estimate</a:t>
            </a:r>
            <a:endParaRPr lang="en-NL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F0EA6-E390-2D75-CE74-9E57A445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0133" t="14148" r="11474" b="19397"/>
          <a:stretch/>
        </p:blipFill>
        <p:spPr>
          <a:xfrm>
            <a:off x="2164080" y="2733041"/>
            <a:ext cx="4836160" cy="357632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C4ED3D-A0AF-AD52-2CC3-81635792495F}"/>
                  </a:ext>
                </a:extLst>
              </p:cNvPr>
              <p:cNvSpPr txBox="1"/>
              <p:nvPr/>
            </p:nvSpPr>
            <p:spPr>
              <a:xfrm>
                <a:off x="4286520" y="1788016"/>
                <a:ext cx="1103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C4ED3D-A0AF-AD52-2CC3-816357924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520" y="1788016"/>
                <a:ext cx="110395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98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13F8-F5CD-488A-33F5-2EDE581F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KDE Artefacts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053AC0-B212-65F8-7DA2-1B41DFDDB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350" y="1541462"/>
            <a:ext cx="4146550" cy="305535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2DF66-0627-162D-4376-F1B7F28D7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89" y="1587500"/>
            <a:ext cx="4089839" cy="30226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5DF0A4-93E8-1622-73C4-93291DFC359C}"/>
              </a:ext>
            </a:extLst>
          </p:cNvPr>
          <p:cNvCxnSpPr>
            <a:cxnSpLocks/>
          </p:cNvCxnSpPr>
          <p:nvPr/>
        </p:nvCxnSpPr>
        <p:spPr>
          <a:xfrm flipH="1" flipV="1">
            <a:off x="1562100" y="4254500"/>
            <a:ext cx="203200" cy="6350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6B59C8-79A9-2A8A-DEB9-895DCC0A69F6}"/>
              </a:ext>
            </a:extLst>
          </p:cNvPr>
          <p:cNvCxnSpPr>
            <a:cxnSpLocks/>
          </p:cNvCxnSpPr>
          <p:nvPr/>
        </p:nvCxnSpPr>
        <p:spPr>
          <a:xfrm flipV="1">
            <a:off x="3721100" y="4292600"/>
            <a:ext cx="279400" cy="5461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54F538-ECA3-91EC-D133-DBE225BD0553}"/>
              </a:ext>
            </a:extLst>
          </p:cNvPr>
          <p:cNvSpPr txBox="1"/>
          <p:nvPr/>
        </p:nvSpPr>
        <p:spPr>
          <a:xfrm>
            <a:off x="520700" y="5194300"/>
            <a:ext cx="80779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KDE builds on the assumption that datapoints have measurement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Min and max in the sample are perhaps not the extreme values in the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KDE will be wider than the range of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Size of artefact depends on bandwidth</a:t>
            </a:r>
          </a:p>
        </p:txBody>
      </p:sp>
    </p:spTree>
    <p:extLst>
      <p:ext uri="{BB962C8B-B14F-4D97-AF65-F5344CB8AC3E}">
        <p14:creationId xmlns:p14="http://schemas.microsoft.com/office/powerpoint/2010/main" val="254002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FE62-7507-C693-19B7-2ECDCE4A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Race Times in Speed Skating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A754CA-4F27-402E-C6D5-66B39B98B723}"/>
              </a:ext>
            </a:extLst>
          </p:cNvPr>
          <p:cNvGrpSpPr/>
          <p:nvPr/>
        </p:nvGrpSpPr>
        <p:grpSpPr>
          <a:xfrm>
            <a:off x="-153530" y="1371425"/>
            <a:ext cx="9626758" cy="5270675"/>
            <a:chOff x="862470" y="1727025"/>
            <a:chExt cx="7179241" cy="3930653"/>
          </a:xfrm>
        </p:grpSpPr>
        <p:pic>
          <p:nvPicPr>
            <p:cNvPr id="6" name="Content Placeholder 3" descr="relativetime.pdf">
              <a:extLst>
                <a:ext uri="{FF2B5EF4-FFF2-40B4-BE49-F238E27FC236}">
                  <a16:creationId xmlns:a16="http://schemas.microsoft.com/office/drawing/2014/main" id="{3FD98EB7-D048-E298-1480-10A1F9E21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8727" r="-8727"/>
            <a:stretch>
              <a:fillRect/>
            </a:stretch>
          </p:blipFill>
          <p:spPr bwMode="auto">
            <a:xfrm>
              <a:off x="862470" y="1727025"/>
              <a:ext cx="7179241" cy="3930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0060591-2875-29BB-D1E4-AD6304E10D72}"/>
                </a:ext>
              </a:extLst>
            </p:cNvPr>
            <p:cNvCxnSpPr/>
            <p:nvPr/>
          </p:nvCxnSpPr>
          <p:spPr bwMode="auto">
            <a:xfrm>
              <a:off x="4206006" y="2466501"/>
              <a:ext cx="0" cy="269774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5C4CECD-C9BD-2ACB-59E3-1F9CFBA316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48991" y="4053016"/>
              <a:ext cx="0" cy="109196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073D2D4-5418-EDB5-70B7-26AA1B7743FF}"/>
              </a:ext>
            </a:extLst>
          </p:cNvPr>
          <p:cNvSpPr txBox="1"/>
          <p:nvPr/>
        </p:nvSpPr>
        <p:spPr>
          <a:xfrm>
            <a:off x="2692400" y="6032500"/>
            <a:ext cx="727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sz="1600" dirty="0"/>
              <a:t>track</a:t>
            </a:r>
          </a:p>
          <a:p>
            <a:pPr algn="ctr"/>
            <a:r>
              <a:rPr lang="en-NL" sz="1600" dirty="0"/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487949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8256-C62A-16DC-7C51-D604C49B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Subgroup-based KDE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42C468-5D8C-25A7-D294-5D3C3C5A4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165" y="1289050"/>
            <a:ext cx="7209669" cy="5381625"/>
          </a:xfr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41CD95-8D69-5BF5-C8BF-DBE31786CA35}"/>
              </a:ext>
            </a:extLst>
          </p:cNvPr>
          <p:cNvCxnSpPr>
            <a:cxnSpLocks/>
          </p:cNvCxnSpPr>
          <p:nvPr/>
        </p:nvCxnSpPr>
        <p:spPr>
          <a:xfrm flipH="1">
            <a:off x="5740400" y="2540000"/>
            <a:ext cx="1092200" cy="8509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28F80D-DE29-3191-1A1F-0DBF23C0F1A2}"/>
              </a:ext>
            </a:extLst>
          </p:cNvPr>
          <p:cNvSpPr txBox="1"/>
          <p:nvPr/>
        </p:nvSpPr>
        <p:spPr>
          <a:xfrm>
            <a:off x="6807200" y="2222500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widowers (3.3%)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0B390F-7E4F-6C92-2407-D5C5BF9C0D47}"/>
              </a:ext>
            </a:extLst>
          </p:cNvPr>
          <p:cNvCxnSpPr>
            <a:cxnSpLocks/>
          </p:cNvCxnSpPr>
          <p:nvPr/>
        </p:nvCxnSpPr>
        <p:spPr>
          <a:xfrm>
            <a:off x="2501900" y="2209800"/>
            <a:ext cx="762000" cy="3937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4CAE93-5562-E647-CC8B-9146E5E49595}"/>
              </a:ext>
            </a:extLst>
          </p:cNvPr>
          <p:cNvSpPr txBox="1"/>
          <p:nvPr/>
        </p:nvSpPr>
        <p:spPr>
          <a:xfrm>
            <a:off x="1638300" y="1866900"/>
            <a:ext cx="1817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entire population</a:t>
            </a:r>
          </a:p>
        </p:txBody>
      </p:sp>
    </p:spTree>
    <p:extLst>
      <p:ext uri="{BB962C8B-B14F-4D97-AF65-F5344CB8AC3E}">
        <p14:creationId xmlns:p14="http://schemas.microsoft.com/office/powerpoint/2010/main" val="3163040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2EC1E-3A49-408E-DFCF-B8A266DB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Principal Component Analysis (PCA)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B4AA25-FFF3-6D7C-FBE8-4B3557D40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710883" y="1289049"/>
            <a:ext cx="5722234" cy="53816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D8C95D-C7D6-ACD9-F49D-1DBE29BF7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488" y="3277455"/>
            <a:ext cx="3416208" cy="339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7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FE76-7D70-9264-A338-01247BD05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Principal Component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D0483-4710-EFEC-C8B2-5CBBBD668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Linear dimensionality reduction technique</a:t>
            </a:r>
          </a:p>
          <a:p>
            <a:r>
              <a:rPr lang="en-GB" sz="1800" dirty="0"/>
              <a:t>Data projected onto a new coordinate system</a:t>
            </a:r>
          </a:p>
          <a:p>
            <a:pPr lvl="1"/>
            <a:r>
              <a:rPr lang="en-GB" sz="1600" dirty="0"/>
              <a:t>linear combination of original features</a:t>
            </a:r>
          </a:p>
          <a:p>
            <a:pPr lvl="1"/>
            <a:r>
              <a:rPr lang="en-GB" sz="1600" dirty="0"/>
              <a:t>principal components are orthogonal</a:t>
            </a:r>
          </a:p>
          <a:p>
            <a:pPr lvl="1"/>
            <a:r>
              <a:rPr lang="en-GB" sz="1600" dirty="0"/>
              <a:t>components ordered by largest variance</a:t>
            </a:r>
          </a:p>
          <a:p>
            <a:pPr lvl="2"/>
            <a:r>
              <a:rPr lang="en-GB" sz="1400" dirty="0"/>
              <a:t>first component has largest variance, second (perpendicular) component has largest remaining variance, …</a:t>
            </a:r>
          </a:p>
          <a:p>
            <a:pPr lvl="1"/>
            <a:r>
              <a:rPr lang="en-GB" sz="1600" dirty="0"/>
              <a:t>dimensionality reduction by selecting the first </a:t>
            </a:r>
            <a:r>
              <a:rPr lang="en-GB" sz="1600" i="1" dirty="0"/>
              <a:t>k</a:t>
            </a:r>
            <a:r>
              <a:rPr lang="en-GB" sz="1600" dirty="0"/>
              <a:t> components</a:t>
            </a:r>
          </a:p>
          <a:p>
            <a:r>
              <a:rPr lang="en-GB" sz="1800" dirty="0"/>
              <a:t>Unsupervised approach</a:t>
            </a:r>
          </a:p>
          <a:p>
            <a:pPr lvl="1"/>
            <a:r>
              <a:rPr lang="en-GB" sz="1600" dirty="0"/>
              <a:t>not optimised for class-separability</a:t>
            </a:r>
            <a:endParaRPr lang="en-NL" sz="16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F5580461-AAC6-B5F4-41BA-0F1B1064A2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1"/>
          <a:stretch/>
        </p:blipFill>
        <p:spPr bwMode="auto">
          <a:xfrm>
            <a:off x="5676900" y="4450079"/>
            <a:ext cx="3275013" cy="238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195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020602-60FC-6498-0F92-518D0A3B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70" y="3491229"/>
            <a:ext cx="3370554" cy="3325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92EC1E-3A49-408E-DFCF-B8A266DB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Principal Component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B4AA25-FFF3-6D7C-FBE8-4B3557D40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436887" y="3435273"/>
            <a:ext cx="3483137" cy="32758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943E68-0C79-6997-29B9-C19F54DFD29B}"/>
              </a:ext>
            </a:extLst>
          </p:cNvPr>
          <p:cNvSpPr txBox="1"/>
          <p:nvPr/>
        </p:nvSpPr>
        <p:spPr>
          <a:xfrm>
            <a:off x="591841" y="1202076"/>
            <a:ext cx="67265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from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sklearn.decomposition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 import PCA</a:t>
            </a:r>
          </a:p>
          <a:p>
            <a:endParaRPr lang="en-GB" sz="11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mean = [5, 5]</a:t>
            </a:r>
          </a:p>
          <a:p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covariance_matrix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 = [[3, 2.5], [2.5, 3]]</a:t>
            </a:r>
          </a:p>
          <a:p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num_samples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 = 10000</a:t>
            </a:r>
          </a:p>
          <a:p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samples =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np.random.multivariate_normal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(mean,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covariance_matrix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,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num_samples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endParaRPr lang="en-GB" sz="11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pca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 = PCA(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n_components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=2)</a:t>
            </a:r>
          </a:p>
          <a:p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X_pca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 =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pca.fit_transform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(samples)</a:t>
            </a:r>
          </a:p>
          <a:p>
            <a:endParaRPr lang="en-GB" sz="11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print(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pca.explained_variance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_)</a:t>
            </a:r>
          </a:p>
          <a:p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print(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pca.explained_variance_ratio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_)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71A3F-96C6-B465-66F7-132C40959EBC}"/>
              </a:ext>
            </a:extLst>
          </p:cNvPr>
          <p:cNvSpPr txBox="1"/>
          <p:nvPr/>
        </p:nvSpPr>
        <p:spPr>
          <a:xfrm>
            <a:off x="4572000" y="3759088"/>
            <a:ext cx="3842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explained variance: (</a:t>
            </a:r>
            <a:r>
              <a:rPr lang="en-NL" dirty="0"/>
              <a:t>5.401, 0.501</a:t>
            </a:r>
            <a:r>
              <a:rPr lang="en-NL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NL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explained variance ratio: (0.917, 0.082)</a:t>
            </a:r>
          </a:p>
        </p:txBody>
      </p:sp>
    </p:spTree>
    <p:extLst>
      <p:ext uri="{BB962C8B-B14F-4D97-AF65-F5344CB8AC3E}">
        <p14:creationId xmlns:p14="http://schemas.microsoft.com/office/powerpoint/2010/main" val="72526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27C98-E87F-782F-8ABB-5BBDF5872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PCA on Scaled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4E6FA-7E6B-ABA4-5829-CAA5ACA87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5003" y="1126158"/>
            <a:ext cx="3106458" cy="306957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5CDF3C-A441-3ABA-5DAB-F70F52FFF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919" y="1200967"/>
            <a:ext cx="2984505" cy="29642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C94872-8A28-6B30-CDE5-2C04B54B2C23}"/>
              </a:ext>
            </a:extLst>
          </p:cNvPr>
          <p:cNvSpPr txBox="1"/>
          <p:nvPr/>
        </p:nvSpPr>
        <p:spPr>
          <a:xfrm>
            <a:off x="898512" y="5384877"/>
            <a:ext cx="640178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from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sklearn.preprocessing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 import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StandardScaler</a:t>
            </a:r>
            <a:endParaRPr lang="en-GB" sz="1100" dirty="0">
              <a:latin typeface="Courier" pitchFamily="2" charset="0"/>
              <a:cs typeface="Courier New" panose="02070309020205020404" pitchFamily="49" charset="0"/>
            </a:endParaRPr>
          </a:p>
          <a:p>
            <a:endParaRPr lang="en-GB" sz="11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# With scaling (mean=0, std=1)</a:t>
            </a:r>
          </a:p>
          <a:p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scaler =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StandardScaler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()</a:t>
            </a:r>
          </a:p>
          <a:p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X_scaled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 =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scaler.fit_transform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(X)</a:t>
            </a:r>
          </a:p>
          <a:p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X_pca_scaled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 = 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pca.fit_transform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-GB" sz="1100" dirty="0" err="1">
                <a:latin typeface="Courier" pitchFamily="2" charset="0"/>
                <a:cs typeface="Courier New" panose="02070309020205020404" pitchFamily="49" charset="0"/>
              </a:rPr>
              <a:t>X_scaled</a:t>
            </a:r>
            <a:r>
              <a:rPr lang="en-GB" sz="1100" dirty="0">
                <a:latin typeface="Courier" pitchFamily="2" charset="0"/>
                <a:cs typeface="Courier New" panose="02070309020205020404" pitchFamily="49" charset="0"/>
              </a:rPr>
              <a:t>)</a:t>
            </a:r>
            <a:endParaRPr lang="en-N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C2A02-3A66-FF88-ADB2-1265AF604AF1}"/>
              </a:ext>
            </a:extLst>
          </p:cNvPr>
          <p:cNvSpPr txBox="1"/>
          <p:nvPr/>
        </p:nvSpPr>
        <p:spPr>
          <a:xfrm>
            <a:off x="709117" y="4378612"/>
            <a:ext cx="7869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When features are on different scales (e.g., one feature in </a:t>
            </a:r>
            <a:r>
              <a:rPr lang="en-GB" i="1" dirty="0"/>
              <a:t>km</a:t>
            </a:r>
            <a:r>
              <a:rPr lang="en-GB" dirty="0"/>
              <a:t>, another in </a:t>
            </a:r>
            <a:r>
              <a:rPr lang="en-GB" i="1" dirty="0"/>
              <a:t>mm</a:t>
            </a:r>
            <a:r>
              <a:rPr lang="en-GB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Variance of larger-scaled feature will dominate the PCA process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FBC53-0964-B61B-05D7-B6E488C0DB0F}"/>
              </a:ext>
            </a:extLst>
          </p:cNvPr>
          <p:cNvSpPr txBox="1"/>
          <p:nvPr/>
        </p:nvSpPr>
        <p:spPr>
          <a:xfrm>
            <a:off x="4635500" y="1313934"/>
            <a:ext cx="1485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1600" dirty="0"/>
              <a:t>(x = x*10)</a:t>
            </a:r>
          </a:p>
        </p:txBody>
      </p:sp>
    </p:spTree>
    <p:extLst>
      <p:ext uri="{BB962C8B-B14F-4D97-AF65-F5344CB8AC3E}">
        <p14:creationId xmlns:p14="http://schemas.microsoft.com/office/powerpoint/2010/main" val="183342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B5DC-9026-FBF4-103E-60A5641E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Principal Component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275C2-DEBB-D58D-183F-7FC9A9DE4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1800" dirty="0"/>
              <a:t>(Standardize the data)</a:t>
            </a:r>
          </a:p>
          <a:p>
            <a:r>
              <a:rPr lang="en-NL" sz="1800" dirty="0"/>
              <a:t>Compute the covariance matrix </a:t>
            </a:r>
            <a:r>
              <a:rPr lang="en-NL" sz="1800" i="1" dirty="0"/>
              <a:t>C</a:t>
            </a:r>
            <a:r>
              <a:rPr lang="en-NL" sz="1800" dirty="0"/>
              <a:t>:</a:t>
            </a:r>
          </a:p>
          <a:p>
            <a:endParaRPr lang="en-NL" sz="1800" dirty="0"/>
          </a:p>
          <a:p>
            <a:endParaRPr lang="en-NL" sz="1800" dirty="0"/>
          </a:p>
          <a:p>
            <a:r>
              <a:rPr lang="en-NL" sz="1800" dirty="0"/>
              <a:t>Decompose </a:t>
            </a:r>
            <a:r>
              <a:rPr lang="en-NL" sz="1800" i="1" dirty="0"/>
              <a:t>C</a:t>
            </a:r>
            <a:r>
              <a:rPr lang="en-NL" sz="1800" dirty="0"/>
              <a:t> into its eigenvectors and eigenvalues</a:t>
            </a:r>
          </a:p>
          <a:p>
            <a:endParaRPr lang="en-NL" sz="1800" dirty="0"/>
          </a:p>
          <a:p>
            <a:endParaRPr lang="en-NL" sz="1800" dirty="0"/>
          </a:p>
          <a:p>
            <a:r>
              <a:rPr lang="en-NL" sz="1800" dirty="0"/>
              <a:t>Sort according to eigenvalues, and select the top components</a:t>
            </a:r>
          </a:p>
          <a:p>
            <a:endParaRPr lang="en-NL" sz="1800" dirty="0"/>
          </a:p>
          <a:p>
            <a:r>
              <a:rPr lang="en-NL" sz="1800" dirty="0"/>
              <a:t>Different implementations:</a:t>
            </a:r>
          </a:p>
          <a:p>
            <a:pPr lvl="1"/>
            <a:r>
              <a:rPr lang="en-GB" sz="1100" b="1" dirty="0" err="1">
                <a:latin typeface="Courier" pitchFamily="2" charset="0"/>
                <a:cs typeface="Calibri" panose="020F0502020204030204" pitchFamily="34" charset="0"/>
              </a:rPr>
              <a:t>svd_solver</a:t>
            </a:r>
            <a:r>
              <a:rPr lang="en-GB" sz="1100" b="1" dirty="0">
                <a:latin typeface="Courier" pitchFamily="2" charset="0"/>
                <a:cs typeface="Calibri" panose="020F0502020204030204" pitchFamily="34" charset="0"/>
              </a:rPr>
              <a:t> = </a:t>
            </a:r>
            <a:r>
              <a:rPr lang="en-GB" sz="1100" b="1" i="1" dirty="0">
                <a:latin typeface="Courier" pitchFamily="2" charset="0"/>
                <a:cs typeface="Calibri" panose="020F0502020204030204" pitchFamily="34" charset="0"/>
              </a:rPr>
              <a:t>‘auto’</a:t>
            </a:r>
          </a:p>
          <a:p>
            <a:pPr lvl="1"/>
            <a:r>
              <a:rPr lang="en-GB" sz="1100" dirty="0" err="1">
                <a:latin typeface="Courier" pitchFamily="2" charset="0"/>
                <a:cs typeface="Calibri" panose="020F0502020204030204" pitchFamily="34" charset="0"/>
              </a:rPr>
              <a:t>svd_solver</a:t>
            </a:r>
            <a:r>
              <a:rPr lang="en-GB" sz="1100" dirty="0">
                <a:latin typeface="Courier" pitchFamily="2" charset="0"/>
                <a:cs typeface="Calibri" panose="020F0502020204030204" pitchFamily="34" charset="0"/>
              </a:rPr>
              <a:t> = </a:t>
            </a:r>
            <a:r>
              <a:rPr lang="en-GB" sz="1100" i="1" dirty="0">
                <a:latin typeface="Courier" pitchFamily="2" charset="0"/>
                <a:cs typeface="Calibri" panose="020F0502020204030204" pitchFamily="34" charset="0"/>
              </a:rPr>
              <a:t>‘full’</a:t>
            </a:r>
          </a:p>
          <a:p>
            <a:pPr lvl="1"/>
            <a:r>
              <a:rPr lang="en-GB" sz="1100" dirty="0" err="1">
                <a:latin typeface="Courier" pitchFamily="2" charset="0"/>
                <a:cs typeface="Calibri" panose="020F0502020204030204" pitchFamily="34" charset="0"/>
              </a:rPr>
              <a:t>svd_solver</a:t>
            </a:r>
            <a:r>
              <a:rPr lang="en-GB" sz="1100" dirty="0">
                <a:latin typeface="Courier" pitchFamily="2" charset="0"/>
                <a:cs typeface="Calibri" panose="020F0502020204030204" pitchFamily="34" charset="0"/>
              </a:rPr>
              <a:t> = ‘</a:t>
            </a:r>
            <a:r>
              <a:rPr lang="en-GB" sz="1100" dirty="0" err="1">
                <a:latin typeface="Courier" pitchFamily="2" charset="0"/>
                <a:cs typeface="Calibri" panose="020F0502020204030204" pitchFamily="34" charset="0"/>
              </a:rPr>
              <a:t>covariance_eigh</a:t>
            </a:r>
            <a:r>
              <a:rPr lang="en-GB" sz="1100" dirty="0">
                <a:latin typeface="Courier" pitchFamily="2" charset="0"/>
                <a:cs typeface="Calibri" panose="020F0502020204030204" pitchFamily="34" charset="0"/>
              </a:rPr>
              <a:t>’</a:t>
            </a:r>
          </a:p>
          <a:p>
            <a:pPr lvl="1"/>
            <a:r>
              <a:rPr lang="en-GB" sz="1100" dirty="0" err="1">
                <a:latin typeface="Courier" pitchFamily="2" charset="0"/>
                <a:cs typeface="Calibri" panose="020F0502020204030204" pitchFamily="34" charset="0"/>
              </a:rPr>
              <a:t>svd_solver</a:t>
            </a:r>
            <a:r>
              <a:rPr lang="en-GB" sz="1100" dirty="0">
                <a:latin typeface="Courier" pitchFamily="2" charset="0"/>
                <a:cs typeface="Calibri" panose="020F0502020204030204" pitchFamily="34" charset="0"/>
              </a:rPr>
              <a:t> = ‘randomized’</a:t>
            </a:r>
            <a:endParaRPr lang="en-NL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A6297-7779-B6F6-0363-734ED8242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651" y="2018316"/>
            <a:ext cx="1646349" cy="547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D3E86-1393-7C8A-A2B3-C2A4D3709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748" y="3200977"/>
            <a:ext cx="1131552" cy="31482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B3AA748-34A3-9400-0730-8D0B0F74D3F9}"/>
              </a:ext>
            </a:extLst>
          </p:cNvPr>
          <p:cNvGrpSpPr/>
          <p:nvPr/>
        </p:nvGrpSpPr>
        <p:grpSpPr>
          <a:xfrm>
            <a:off x="4382215" y="3444025"/>
            <a:ext cx="1677515" cy="673404"/>
            <a:chOff x="4623515" y="3825025"/>
            <a:chExt cx="1677515" cy="673404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1363EB-442A-73E5-34C3-2318F6AF0DE9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4623515" y="3825025"/>
              <a:ext cx="437880" cy="5041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184F90-A494-4BE3-26B4-C23FA46C77C7}"/>
                </a:ext>
              </a:extLst>
            </p:cNvPr>
            <p:cNvSpPr txBox="1"/>
            <p:nvPr/>
          </p:nvSpPr>
          <p:spPr>
            <a:xfrm>
              <a:off x="5061395" y="4159875"/>
              <a:ext cx="12396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1600" dirty="0"/>
                <a:t>eigenvectors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98597E-C944-2B62-CFEC-ACFE2EF72678}"/>
              </a:ext>
            </a:extLst>
          </p:cNvPr>
          <p:cNvGrpSpPr/>
          <p:nvPr/>
        </p:nvGrpSpPr>
        <p:grpSpPr>
          <a:xfrm>
            <a:off x="4576293" y="3508241"/>
            <a:ext cx="2019897" cy="387921"/>
            <a:chOff x="4881093" y="3876541"/>
            <a:chExt cx="2019897" cy="38792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C6176E1-759B-131E-5850-D770662FC3DD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 flipV="1">
              <a:off x="4881093" y="3876541"/>
              <a:ext cx="860734" cy="21864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D740DA-0EA5-67BE-1ABB-EB5EA35A9DFA}"/>
                </a:ext>
              </a:extLst>
            </p:cNvPr>
            <p:cNvSpPr txBox="1"/>
            <p:nvPr/>
          </p:nvSpPr>
          <p:spPr>
            <a:xfrm>
              <a:off x="5741827" y="3925908"/>
              <a:ext cx="1159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1600" dirty="0"/>
                <a:t>eigenvalues</a:t>
              </a:r>
            </a:p>
          </p:txBody>
        </p:sp>
      </p:grpSp>
      <p:sp>
        <p:nvSpPr>
          <p:cNvPr id="4" name="Right Brace 3">
            <a:extLst>
              <a:ext uri="{FF2B5EF4-FFF2-40B4-BE49-F238E27FC236}">
                <a16:creationId xmlns:a16="http://schemas.microsoft.com/office/drawing/2014/main" id="{38A84F83-0D53-F9D7-527D-14F93C5C2D60}"/>
              </a:ext>
            </a:extLst>
          </p:cNvPr>
          <p:cNvSpPr/>
          <p:nvPr/>
        </p:nvSpPr>
        <p:spPr>
          <a:xfrm>
            <a:off x="4114800" y="4940300"/>
            <a:ext cx="241300" cy="901700"/>
          </a:xfrm>
          <a:prstGeom prst="rightBrace">
            <a:avLst>
              <a:gd name="adj1" fmla="val 43888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9A3F0-39A7-6A73-8AAB-59B2DFA3C427}"/>
              </a:ext>
            </a:extLst>
          </p:cNvPr>
          <p:cNvSpPr txBox="1"/>
          <p:nvPr/>
        </p:nvSpPr>
        <p:spPr>
          <a:xfrm>
            <a:off x="4328160" y="5016500"/>
            <a:ext cx="25806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dirty="0"/>
              <a:t>differe</a:t>
            </a:r>
            <a:r>
              <a:rPr lang="en-GB" sz="1400" dirty="0"/>
              <a:t>n</a:t>
            </a:r>
            <a:r>
              <a:rPr lang="en-NL" sz="1400" dirty="0"/>
              <a:t>t solvers, each with their particular reasons to choose (size of data, stability, …)</a:t>
            </a:r>
          </a:p>
        </p:txBody>
      </p:sp>
    </p:spTree>
    <p:extLst>
      <p:ext uri="{BB962C8B-B14F-4D97-AF65-F5344CB8AC3E}">
        <p14:creationId xmlns:p14="http://schemas.microsoft.com/office/powerpoint/2010/main" val="92831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3415-6910-F7E7-74D5-90F880AA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PCA Scree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84F5CB-4059-28D7-D0E0-DDBFB1EA7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28729"/>
            <a:ext cx="7886700" cy="25898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7E2A8-92B4-932B-123E-7DBE2258C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052" y="3085410"/>
            <a:ext cx="4420884" cy="348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7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50AE-8B02-A427-D7BB-96E912F2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PCA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D1286-17C1-644E-CCEC-BA919B733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9785"/>
            <a:ext cx="7886700" cy="2501379"/>
          </a:xfrm>
        </p:spPr>
        <p:txBody>
          <a:bodyPr>
            <a:normAutofit/>
          </a:bodyPr>
          <a:lstStyle/>
          <a:p>
            <a:r>
              <a:rPr lang="en-NL" sz="1800" dirty="0"/>
              <a:t>Results of PCA depends on scaling of variables</a:t>
            </a:r>
          </a:p>
          <a:p>
            <a:pPr lvl="1"/>
            <a:r>
              <a:rPr lang="en-NL" sz="1600" dirty="0"/>
              <a:t>z-transform the data first</a:t>
            </a:r>
          </a:p>
          <a:p>
            <a:r>
              <a:rPr lang="en-NL" sz="1800" dirty="0"/>
              <a:t>Tacit assumptions about linearity</a:t>
            </a:r>
          </a:p>
          <a:p>
            <a:r>
              <a:rPr lang="en-NL" sz="1800" dirty="0"/>
              <a:t>Unsupervised (no target)</a:t>
            </a:r>
          </a:p>
          <a:p>
            <a:r>
              <a:rPr lang="en-NL" sz="1800" dirty="0"/>
              <a:t>Mean-removal may be annoying</a:t>
            </a:r>
          </a:p>
          <a:p>
            <a:r>
              <a:rPr lang="en-NL" sz="1800" dirty="0"/>
              <a:t>Interpretation of Principal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B10D8-7831-A113-D3E5-FEBF194DB1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00"/>
          <a:stretch/>
        </p:blipFill>
        <p:spPr>
          <a:xfrm>
            <a:off x="2229491" y="3747977"/>
            <a:ext cx="6673065" cy="29485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05CD8-40A2-D2D7-1BC9-BEB65A504740}"/>
              </a:ext>
            </a:extLst>
          </p:cNvPr>
          <p:cNvSpPr txBox="1"/>
          <p:nvPr/>
        </p:nvSpPr>
        <p:spPr>
          <a:xfrm>
            <a:off x="4930317" y="3441642"/>
            <a:ext cx="160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German credit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18905-6301-38C3-7ECE-554BF38EC032}"/>
              </a:ext>
            </a:extLst>
          </p:cNvPr>
          <p:cNvSpPr txBox="1"/>
          <p:nvPr/>
        </p:nvSpPr>
        <p:spPr>
          <a:xfrm>
            <a:off x="3072809" y="3742656"/>
            <a:ext cx="21034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050" dirty="0">
                <a:solidFill>
                  <a:srgbClr val="FF0000"/>
                </a:solidFill>
              </a:rPr>
              <a:t>Age, Credit Amount, Lone Duration</a:t>
            </a:r>
          </a:p>
        </p:txBody>
      </p:sp>
    </p:spTree>
    <p:extLst>
      <p:ext uri="{BB962C8B-B14F-4D97-AF65-F5344CB8AC3E}">
        <p14:creationId xmlns:p14="http://schemas.microsoft.com/office/powerpoint/2010/main" val="1013675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E93D0F-740A-B3DE-9652-2DA6469EF1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Break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0BC50A-CB25-C1AA-6BA8-9892F5A67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43767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9969DB61-7715-8A26-8292-E3A9E68DD6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52600" y="2616200"/>
            <a:ext cx="7010400" cy="1676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400" dirty="0">
                <a:cs typeface="+mj-cs"/>
              </a:rPr>
              <a:t>t-distributed Stochastic Neighbor Embedding</a:t>
            </a:r>
          </a:p>
        </p:txBody>
      </p:sp>
      <p:sp>
        <p:nvSpPr>
          <p:cNvPr id="15362" name="Subtitle 1">
            <a:extLst>
              <a:ext uri="{FF2B5EF4-FFF2-40B4-BE49-F238E27FC236}">
                <a16:creationId xmlns:a16="http://schemas.microsoft.com/office/drawing/2014/main" id="{2FC5CC45-8898-E5AC-5F65-7DE816ADE8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52600" y="4234498"/>
            <a:ext cx="6858000" cy="1655762"/>
          </a:xfrm>
        </p:spPr>
        <p:txBody>
          <a:bodyPr>
            <a:normAutofit/>
          </a:bodyPr>
          <a:lstStyle/>
          <a:p>
            <a:pPr>
              <a:buFont typeface="Webdings" pitchFamily="2" charset="2"/>
              <a:buNone/>
            </a:pPr>
            <a:r>
              <a:rPr lang="en-NL" altLang="en-NL" sz="3200" dirty="0"/>
              <a:t>(t-SNE)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9B96AFD6-2719-74C6-155D-AF4416C12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NL" altLang="en-NL"/>
              <a:t>Non-linear Dimensionality Reduction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32468538-29DA-5F35-EC39-DF87AF4DE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altLang="en-NL" sz="2000" dirty="0"/>
              <a:t>Manifold</a:t>
            </a:r>
          </a:p>
          <a:p>
            <a:r>
              <a:rPr lang="en-NL" altLang="en-NL" sz="2000" dirty="0"/>
              <a:t>Intrinsic lower dimensionality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AF5E079A-5656-CA11-158C-A5E266862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9" t="5392" r="8321" b="50000"/>
          <a:stretch>
            <a:fillRect/>
          </a:stretch>
        </p:blipFill>
        <p:spPr bwMode="auto">
          <a:xfrm>
            <a:off x="2963863" y="4062413"/>
            <a:ext cx="5711825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FCA870BA-C896-283D-AF12-73E5D50EA4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NL" dirty="0"/>
              <a:t>t</a:t>
            </a:r>
            <a:r>
              <a:rPr lang="en-NL" altLang="en-NL" dirty="0"/>
              <a:t>-SNE Approach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3C967A4E-348C-DB3E-EBBB-8E22D50E13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altLang="en-NL" sz="1800" dirty="0"/>
              <a:t>Represent distances between every pair of datapoints</a:t>
            </a:r>
          </a:p>
          <a:p>
            <a:pPr lvl="1"/>
            <a:r>
              <a:rPr lang="en-GB" altLang="en-NL" sz="1600" dirty="0" err="1"/>
              <a:t>i</a:t>
            </a:r>
            <a:r>
              <a:rPr lang="en-NL" altLang="en-NL" sz="1600" dirty="0"/>
              <a:t>n the high-dimensional space</a:t>
            </a:r>
          </a:p>
          <a:p>
            <a:pPr lvl="1"/>
            <a:r>
              <a:rPr lang="en-GB" altLang="en-NL" sz="1600" dirty="0" err="1"/>
              <a:t>i</a:t>
            </a:r>
            <a:r>
              <a:rPr lang="en-NL" altLang="en-NL" sz="1600" dirty="0"/>
              <a:t>n the low-dimensional space</a:t>
            </a:r>
          </a:p>
          <a:p>
            <a:r>
              <a:rPr lang="en-NL" altLang="en-NL" sz="1800" dirty="0"/>
              <a:t>Compute the divergence between the two</a:t>
            </a:r>
          </a:p>
          <a:p>
            <a:r>
              <a:rPr lang="en-NL" altLang="en-NL" sz="1800" dirty="0"/>
              <a:t>Move the points in the low-dimensional space</a:t>
            </a:r>
          </a:p>
          <a:p>
            <a:pPr lvl="1"/>
            <a:r>
              <a:rPr lang="en-GB" altLang="en-NL" sz="1600" dirty="0"/>
              <a:t>lower</a:t>
            </a:r>
            <a:r>
              <a:rPr lang="en-NL" altLang="en-NL" sz="1600" dirty="0"/>
              <a:t> the divergence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F3FB49FD-0AC3-5933-0540-006FBD3A1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altLang="en-NL" sz="3600" dirty="0"/>
              <a:t>Quantify Similarity in High-dimensional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00E73-3C84-11AE-9C79-AF7DC0272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270318"/>
            <a:ext cx="6824662" cy="180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1800" dirty="0"/>
              <a:t>Express similarity between points as probabilities</a:t>
            </a:r>
          </a:p>
          <a:p>
            <a:pPr>
              <a:defRPr/>
            </a:pPr>
            <a:endParaRPr lang="en-GB" sz="1800" dirty="0"/>
          </a:p>
          <a:p>
            <a:pPr>
              <a:defRPr/>
            </a:pPr>
            <a:endParaRPr lang="en-GB" sz="1800" dirty="0"/>
          </a:p>
          <a:p>
            <a:pPr marL="0" indent="0">
              <a:buFont typeface="Webdings" pitchFamily="2" charset="2"/>
              <a:buNone/>
              <a:defRPr/>
            </a:pPr>
            <a:br>
              <a:rPr lang="en-GB" sz="1800" dirty="0"/>
            </a:br>
            <a:r>
              <a:rPr lang="en-GB" sz="1800" dirty="0"/>
              <a:t>, but</a:t>
            </a:r>
            <a:endParaRPr lang="en-NL" sz="1800" dirty="0"/>
          </a:p>
          <a:p>
            <a:pPr marL="0" indent="0">
              <a:buFont typeface="Webdings" pitchFamily="2" charset="2"/>
              <a:buNone/>
              <a:defRPr/>
            </a:pPr>
            <a:endParaRPr lang="en-NL" sz="1800" dirty="0"/>
          </a:p>
          <a:p>
            <a:pPr>
              <a:defRPr/>
            </a:pPr>
            <a:r>
              <a:rPr lang="en-NL" sz="1800" dirty="0"/>
              <a:t>Not symmetric, so</a:t>
            </a:r>
          </a:p>
        </p:txBody>
      </p:sp>
      <p:pic>
        <p:nvPicPr>
          <p:cNvPr id="20483" name="Picture 6">
            <a:extLst>
              <a:ext uri="{FF2B5EF4-FFF2-40B4-BE49-F238E27FC236}">
                <a16:creationId xmlns:a16="http://schemas.microsoft.com/office/drawing/2014/main" id="{2A9D1D0B-CE9C-4167-68A1-731AFF35A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678305"/>
            <a:ext cx="3968750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8">
            <a:extLst>
              <a:ext uri="{FF2B5EF4-FFF2-40B4-BE49-F238E27FC236}">
                <a16:creationId xmlns:a16="http://schemas.microsoft.com/office/drawing/2014/main" id="{855205D0-F1DD-4995-D629-DDCA7F84E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63" y="2637488"/>
            <a:ext cx="8588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C6C8A6-5C0D-C749-BB11-0660B98F2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11" y="3670269"/>
            <a:ext cx="1614169" cy="58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441E5E8-02D6-D0DC-5194-81B062DE4D6D}"/>
              </a:ext>
            </a:extLst>
          </p:cNvPr>
          <p:cNvGrpSpPr>
            <a:grpSpLocks/>
          </p:cNvGrpSpPr>
          <p:nvPr/>
        </p:nvGrpSpPr>
        <p:grpSpPr bwMode="auto">
          <a:xfrm>
            <a:off x="5935663" y="1816419"/>
            <a:ext cx="2183658" cy="824655"/>
            <a:chOff x="6237514" y="1763486"/>
            <a:chExt cx="2183420" cy="825147"/>
          </a:xfrm>
        </p:grpSpPr>
        <p:cxnSp>
          <p:nvCxnSpPr>
            <p:cNvPr id="20491" name="Straight Arrow Connector 15">
              <a:extLst>
                <a:ext uri="{FF2B5EF4-FFF2-40B4-BE49-F238E27FC236}">
                  <a16:creationId xmlns:a16="http://schemas.microsoft.com/office/drawing/2014/main" id="{EEB26C78-7562-60E1-F410-44F19D2BAAD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237514" y="1763486"/>
              <a:ext cx="1251857" cy="531783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492" name="TextBox 17">
              <a:extLst>
                <a:ext uri="{FF2B5EF4-FFF2-40B4-BE49-F238E27FC236}">
                  <a16:creationId xmlns:a16="http://schemas.microsoft.com/office/drawing/2014/main" id="{13181FE1-BDE3-A59C-4BDA-B33541CCD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9371" y="2003509"/>
              <a:ext cx="931563" cy="585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NL" altLang="en-NL" sz="1600" dirty="0">
                  <a:latin typeface="+mn-lt"/>
                </a:rPr>
                <a:t>(scaled)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NL" altLang="en-NL" sz="1600" dirty="0">
                  <a:latin typeface="+mn-lt"/>
                </a:rPr>
                <a:t>Gaussian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B1FA20-FE6C-A1AC-66FF-09C1D0317317}"/>
              </a:ext>
            </a:extLst>
          </p:cNvPr>
          <p:cNvGrpSpPr>
            <a:grpSpLocks/>
          </p:cNvGrpSpPr>
          <p:nvPr/>
        </p:nvGrpSpPr>
        <p:grpSpPr bwMode="auto">
          <a:xfrm>
            <a:off x="4735513" y="2435543"/>
            <a:ext cx="3394934" cy="1596835"/>
            <a:chOff x="4735501" y="2291373"/>
            <a:chExt cx="3395200" cy="1596953"/>
          </a:xfrm>
        </p:grpSpPr>
        <p:cxnSp>
          <p:nvCxnSpPr>
            <p:cNvPr id="20489" name="Straight Arrow Connector 18">
              <a:extLst>
                <a:ext uri="{FF2B5EF4-FFF2-40B4-BE49-F238E27FC236}">
                  <a16:creationId xmlns:a16="http://schemas.microsoft.com/office/drawing/2014/main" id="{A12E1B85-3EAC-6DA0-C550-0E43AEB8DED1}"/>
                </a:ext>
              </a:extLst>
            </p:cNvPr>
            <p:cNvCxnSpPr>
              <a:cxnSpLocks/>
              <a:stCxn id="20490" idx="1"/>
            </p:cNvCxnSpPr>
            <p:nvPr/>
          </p:nvCxnSpPr>
          <p:spPr bwMode="auto">
            <a:xfrm flipH="1" flipV="1">
              <a:off x="4735501" y="2291373"/>
              <a:ext cx="1624961" cy="1181424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490" name="TextBox 19">
              <a:extLst>
                <a:ext uri="{FF2B5EF4-FFF2-40B4-BE49-F238E27FC236}">
                  <a16:creationId xmlns:a16="http://schemas.microsoft.com/office/drawing/2014/main" id="{3BD5B186-13C8-CA2B-CA71-F0B789825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0462" y="3057268"/>
              <a:ext cx="1770239" cy="831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NL" sz="1600" dirty="0">
                  <a:latin typeface="+mn-lt"/>
                </a:rPr>
                <a:t>weight by the sum,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NL" sz="1600" dirty="0">
                  <a:latin typeface="+mn-lt"/>
                </a:rPr>
                <a:t>such that sum of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NL" sz="1600" i="1" dirty="0" err="1">
                  <a:latin typeface="+mn-lt"/>
                </a:rPr>
                <a:t>p</a:t>
              </a:r>
              <a:r>
                <a:rPr lang="en-GB" altLang="en-NL" sz="1600" i="1" baseline="-25000" dirty="0" err="1">
                  <a:latin typeface="+mn-lt"/>
                </a:rPr>
                <a:t>j</a:t>
              </a:r>
              <a:r>
                <a:rPr lang="en-GB" altLang="en-NL" sz="1600" baseline="-25000" dirty="0" err="1">
                  <a:latin typeface="+mn-lt"/>
                </a:rPr>
                <a:t>|</a:t>
              </a:r>
              <a:r>
                <a:rPr lang="en-GB" altLang="en-NL" sz="1600" i="1" baseline="-25000" dirty="0" err="1">
                  <a:latin typeface="+mn-lt"/>
                </a:rPr>
                <a:t>i</a:t>
              </a:r>
              <a:r>
                <a:rPr lang="en-GB" altLang="en-NL" sz="1600" dirty="0">
                  <a:latin typeface="+mn-lt"/>
                </a:rPr>
                <a:t> equals 1</a:t>
              </a:r>
              <a:endParaRPr lang="en-NL" altLang="en-NL" sz="1600" dirty="0">
                <a:latin typeface="+mn-lt"/>
              </a:endParaRPr>
            </a:p>
          </p:txBody>
        </p:sp>
      </p:grpSp>
      <p:sp>
        <p:nvSpPr>
          <p:cNvPr id="20488" name="TextBox 5">
            <a:extLst>
              <a:ext uri="{FF2B5EF4-FFF2-40B4-BE49-F238E27FC236}">
                <a16:creationId xmlns:a16="http://schemas.microsoft.com/office/drawing/2014/main" id="{99110256-935B-8E86-13AE-1D498620D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150" y="6134735"/>
            <a:ext cx="42710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NL" sz="1600" dirty="0">
                <a:latin typeface="+mn-lt"/>
              </a:rPr>
              <a:t>Hinton, </a:t>
            </a:r>
            <a:r>
              <a:rPr lang="en-GB" altLang="en-NL" sz="1600" dirty="0" err="1">
                <a:latin typeface="+mn-lt"/>
              </a:rPr>
              <a:t>Roweis</a:t>
            </a:r>
            <a:r>
              <a:rPr lang="en-GB" altLang="en-NL" sz="1600" dirty="0">
                <a:latin typeface="+mn-lt"/>
              </a:rPr>
              <a:t>, </a:t>
            </a:r>
            <a:r>
              <a:rPr lang="en-GB" altLang="en-NL" sz="1600" i="1" dirty="0">
                <a:latin typeface="+mn-lt"/>
              </a:rPr>
              <a:t>Stochastic </a:t>
            </a:r>
            <a:r>
              <a:rPr lang="en-GB" altLang="en-NL" sz="1600" i="1" dirty="0" err="1">
                <a:latin typeface="+mn-lt"/>
              </a:rPr>
              <a:t>Neighbor</a:t>
            </a:r>
            <a:r>
              <a:rPr lang="en-GB" altLang="en-NL" sz="1600" i="1" dirty="0">
                <a:latin typeface="+mn-lt"/>
              </a:rPr>
              <a:t> Embedding,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NL" sz="1600" dirty="0">
                <a:latin typeface="+mn-lt"/>
              </a:rPr>
              <a:t>Advances in Neural Information Processing, 2002</a:t>
            </a:r>
            <a:endParaRPr lang="en-NL" altLang="en-NL" sz="16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2D4C4E79-B9BE-C626-31D7-9BE9B6DB1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altLang="en-NL" sz="4800" dirty="0"/>
              <a:t>Gaussian around Point </a:t>
            </a:r>
            <a:r>
              <a:rPr lang="en-NL" altLang="en-NL" sz="4800" i="1" dirty="0"/>
              <a:t>i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417CDBA5-438D-24B3-DCA7-8256CBAF5C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77938"/>
            <a:ext cx="4103687" cy="2303462"/>
          </a:xfrm>
        </p:spPr>
        <p:txBody>
          <a:bodyPr>
            <a:normAutofit/>
          </a:bodyPr>
          <a:lstStyle/>
          <a:p>
            <a:r>
              <a:rPr lang="en-NL" altLang="en-NL" sz="1800" dirty="0"/>
              <a:t>Gaussian captures notion of neighbourhood</a:t>
            </a:r>
          </a:p>
          <a:p>
            <a:r>
              <a:rPr lang="en-NL" altLang="en-NL" sz="1800" dirty="0"/>
              <a:t>Nearby points get high probability, far away deminish to 0</a:t>
            </a:r>
          </a:p>
        </p:txBody>
      </p:sp>
      <p:grpSp>
        <p:nvGrpSpPr>
          <p:cNvPr id="21507" name="Group 23">
            <a:extLst>
              <a:ext uri="{FF2B5EF4-FFF2-40B4-BE49-F238E27FC236}">
                <a16:creationId xmlns:a16="http://schemas.microsoft.com/office/drawing/2014/main" id="{7753E794-CE9E-6913-06ED-C1A7F0463A06}"/>
              </a:ext>
            </a:extLst>
          </p:cNvPr>
          <p:cNvGrpSpPr>
            <a:grpSpLocks/>
          </p:cNvGrpSpPr>
          <p:nvPr/>
        </p:nvGrpSpPr>
        <p:grpSpPr bwMode="auto">
          <a:xfrm>
            <a:off x="5016818" y="3523298"/>
            <a:ext cx="3048000" cy="2743200"/>
            <a:chOff x="4947920" y="3271520"/>
            <a:chExt cx="3048000" cy="2743200"/>
          </a:xfrm>
        </p:grpSpPr>
        <p:cxnSp>
          <p:nvCxnSpPr>
            <p:cNvPr id="21521" name="Straight Connector 4">
              <a:extLst>
                <a:ext uri="{FF2B5EF4-FFF2-40B4-BE49-F238E27FC236}">
                  <a16:creationId xmlns:a16="http://schemas.microsoft.com/office/drawing/2014/main" id="{C3CD474F-3C19-D076-FEF7-0121877F53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7920" y="3271520"/>
              <a:ext cx="0" cy="274320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2" name="Straight Connector 5">
              <a:extLst>
                <a:ext uri="{FF2B5EF4-FFF2-40B4-BE49-F238E27FC236}">
                  <a16:creationId xmlns:a16="http://schemas.microsoft.com/office/drawing/2014/main" id="{7818FC52-CD06-9C6F-DB0D-2A9FBD9044F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947920" y="6014720"/>
              <a:ext cx="3048000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3" name="Oval 8">
              <a:extLst>
                <a:ext uri="{FF2B5EF4-FFF2-40B4-BE49-F238E27FC236}">
                  <a16:creationId xmlns:a16="http://schemas.microsoft.com/office/drawing/2014/main" id="{AABA23B7-FD6D-9C24-298A-BD471ED3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7520" y="3435350"/>
              <a:ext cx="91440" cy="9144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24" name="Oval 9">
              <a:extLst>
                <a:ext uri="{FF2B5EF4-FFF2-40B4-BE49-F238E27FC236}">
                  <a16:creationId xmlns:a16="http://schemas.microsoft.com/office/drawing/2014/main" id="{B4568CC0-1034-CB28-9E86-1892EB988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5260" y="3865880"/>
              <a:ext cx="91440" cy="9144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25" name="Oval 10">
              <a:extLst>
                <a:ext uri="{FF2B5EF4-FFF2-40B4-BE49-F238E27FC236}">
                  <a16:creationId xmlns:a16="http://schemas.microsoft.com/office/drawing/2014/main" id="{BBFEEBA3-F997-E361-FDE5-95A79DC0A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3911600"/>
              <a:ext cx="91440" cy="9144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26" name="Oval 11">
              <a:extLst>
                <a:ext uri="{FF2B5EF4-FFF2-40B4-BE49-F238E27FC236}">
                  <a16:creationId xmlns:a16="http://schemas.microsoft.com/office/drawing/2014/main" id="{1C41FFC0-2F7B-D328-3641-40BA07D4B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9960" y="3680460"/>
              <a:ext cx="91440" cy="9144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27" name="Oval 12">
              <a:extLst>
                <a:ext uri="{FF2B5EF4-FFF2-40B4-BE49-F238E27FC236}">
                  <a16:creationId xmlns:a16="http://schemas.microsoft.com/office/drawing/2014/main" id="{762E7D13-31E4-911A-7790-609A8F277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4040" y="4163060"/>
              <a:ext cx="91440" cy="9144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28" name="Oval 15">
              <a:extLst>
                <a:ext uri="{FF2B5EF4-FFF2-40B4-BE49-F238E27FC236}">
                  <a16:creationId xmlns:a16="http://schemas.microsoft.com/office/drawing/2014/main" id="{1BC4AEA9-0A42-A0A1-558C-4EDBB341A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9120" y="4886960"/>
              <a:ext cx="91440" cy="91440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29" name="Oval 16">
              <a:extLst>
                <a:ext uri="{FF2B5EF4-FFF2-40B4-BE49-F238E27FC236}">
                  <a16:creationId xmlns:a16="http://schemas.microsoft.com/office/drawing/2014/main" id="{4164CDBC-47D9-159D-59C0-6BDA7604F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2480" y="4998720"/>
              <a:ext cx="91440" cy="91440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30" name="Oval 17">
              <a:extLst>
                <a:ext uri="{FF2B5EF4-FFF2-40B4-BE49-F238E27FC236}">
                  <a16:creationId xmlns:a16="http://schemas.microsoft.com/office/drawing/2014/main" id="{0F9CA9CC-FCDD-2E26-E151-4B00186CF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240" y="5201920"/>
              <a:ext cx="91440" cy="91440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31" name="Oval 18">
              <a:extLst>
                <a:ext uri="{FF2B5EF4-FFF2-40B4-BE49-F238E27FC236}">
                  <a16:creationId xmlns:a16="http://schemas.microsoft.com/office/drawing/2014/main" id="{6442931F-EAD8-35AA-8BC4-3638D94CC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6320" y="5334000"/>
              <a:ext cx="91440" cy="91440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  <p:sp>
          <p:nvSpPr>
            <p:cNvPr id="21532" name="Oval 19">
              <a:extLst>
                <a:ext uri="{FF2B5EF4-FFF2-40B4-BE49-F238E27FC236}">
                  <a16:creationId xmlns:a16="http://schemas.microsoft.com/office/drawing/2014/main" id="{8BF559C7-5D27-6DB1-7061-619FD2CFC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7440" y="5039360"/>
              <a:ext cx="91440" cy="91440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NL" altLang="en-NL" sz="1800">
                <a:latin typeface="Arial" panose="020B0604020202020204" pitchFamily="34" charset="0"/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2617420C-CE1A-0BC8-59DE-AF2E3DC66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468" y="4023360"/>
            <a:ext cx="369887" cy="371475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L" altLang="en-NL" sz="1800">
              <a:latin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09D641-937D-1F68-A076-31B9DA00C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668" y="3853498"/>
            <a:ext cx="722312" cy="72231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L" altLang="en-NL" sz="1800">
              <a:latin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223EF7-87EB-9D07-EE94-4D4287363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7143" y="3453448"/>
            <a:ext cx="1504950" cy="1503362"/>
          </a:xfrm>
          <a:prstGeom prst="ellips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L" altLang="en-NL" sz="1800">
              <a:latin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7BD3ACB-2A95-A249-BA13-9A3983DA4617}"/>
              </a:ext>
            </a:extLst>
          </p:cNvPr>
          <p:cNvGrpSpPr>
            <a:grpSpLocks/>
          </p:cNvGrpSpPr>
          <p:nvPr/>
        </p:nvGrpSpPr>
        <p:grpSpPr bwMode="auto">
          <a:xfrm>
            <a:off x="5026343" y="1556385"/>
            <a:ext cx="3065462" cy="1314450"/>
            <a:chOff x="4957197" y="1304260"/>
            <a:chExt cx="3065670" cy="1315467"/>
          </a:xfrm>
        </p:grpSpPr>
        <p:pic>
          <p:nvPicPr>
            <p:cNvPr id="21517" name="Picture 40">
              <a:extLst>
                <a:ext uri="{FF2B5EF4-FFF2-40B4-BE49-F238E27FC236}">
                  <a16:creationId xmlns:a16="http://schemas.microsoft.com/office/drawing/2014/main" id="{D0178CC0-59B8-5679-38B5-1C56AF39B3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75" t="2905" r="2757" b="6039"/>
            <a:stretch>
              <a:fillRect/>
            </a:stretch>
          </p:blipFill>
          <p:spPr bwMode="auto">
            <a:xfrm>
              <a:off x="4976039" y="1349115"/>
              <a:ext cx="2946264" cy="961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1518" name="Straight Connector 30">
              <a:extLst>
                <a:ext uri="{FF2B5EF4-FFF2-40B4-BE49-F238E27FC236}">
                  <a16:creationId xmlns:a16="http://schemas.microsoft.com/office/drawing/2014/main" id="{9A34E1BB-6715-A2B1-B10A-908972530D2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57197" y="2318689"/>
              <a:ext cx="3065670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19" name="TextBox 32">
              <a:extLst>
                <a:ext uri="{FF2B5EF4-FFF2-40B4-BE49-F238E27FC236}">
                  <a16:creationId xmlns:a16="http://schemas.microsoft.com/office/drawing/2014/main" id="{85211E56-B34D-A22C-BED8-F45BA8789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3188" y="2342728"/>
              <a:ext cx="100380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NL" sz="1200">
                  <a:latin typeface="Arial" panose="020B0604020202020204" pitchFamily="34" charset="0"/>
                </a:rPr>
                <a:t>d</a:t>
              </a:r>
              <a:r>
                <a:rPr lang="en-NL" altLang="en-NL" sz="1200">
                  <a:latin typeface="Arial" panose="020B0604020202020204" pitchFamily="34" charset="0"/>
                </a:rPr>
                <a:t>istance to </a:t>
              </a:r>
              <a:r>
                <a:rPr lang="en-NL" altLang="en-NL" sz="1200" i="1">
                  <a:latin typeface="Arial" panose="020B0604020202020204" pitchFamily="34" charset="0"/>
                </a:rPr>
                <a:t>i</a:t>
              </a:r>
              <a:endParaRPr lang="en-NL" altLang="en-NL" sz="1200">
                <a:latin typeface="Arial" panose="020B0604020202020204" pitchFamily="34" charset="0"/>
              </a:endParaRPr>
            </a:p>
          </p:txBody>
        </p:sp>
        <p:cxnSp>
          <p:nvCxnSpPr>
            <p:cNvPr id="21520" name="Straight Connector 34">
              <a:extLst>
                <a:ext uri="{FF2B5EF4-FFF2-40B4-BE49-F238E27FC236}">
                  <a16:creationId xmlns:a16="http://schemas.microsoft.com/office/drawing/2014/main" id="{2ADF3A76-9F89-E549-161B-BD3ABE9B44B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975123" y="1304260"/>
              <a:ext cx="0" cy="1016153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F182145B-B07D-B6C8-63EB-7AA6C3C3C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2280" y="1702435"/>
            <a:ext cx="90488" cy="920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L" altLang="en-NL" sz="1800">
              <a:latin typeface="Arial" panose="020B06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375A80D-1EA1-4244-7A75-BC25AD5F4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9143" y="1851660"/>
            <a:ext cx="92075" cy="920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L" altLang="en-NL" sz="1800">
              <a:latin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714DF47-1243-7123-C4CC-8F860B19A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443" y="2072323"/>
            <a:ext cx="92075" cy="904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L" altLang="en-NL" sz="1800">
              <a:latin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4F03541-5E50-00E2-965E-4047D214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318" y="2142173"/>
            <a:ext cx="90487" cy="920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L" altLang="en-NL" sz="1800">
              <a:latin typeface="Arial" panose="020B0604020202020204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55664C2-EE07-D6AE-7D45-89C3281C8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2193" y="2458085"/>
            <a:ext cx="92075" cy="90488"/>
          </a:xfrm>
          <a:prstGeom prst="ellipse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NL" altLang="en-NL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43" grpId="0" animBg="1"/>
      <p:bldP spid="44" grpId="0" animBg="1"/>
      <p:bldP spid="45" grpId="0" animBg="1"/>
      <p:bldP spid="46" grpId="0" animBg="1"/>
      <p:bldP spid="4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5DAF120E-1863-9B56-4549-09861F09E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altLang="en-NL" sz="3200" dirty="0"/>
              <a:t>Quantify Similarity in Low-dimensional Target Space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7150CBA9-047B-2374-A4D3-55B631E18B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85558"/>
            <a:ext cx="8496300" cy="3348037"/>
          </a:xfrm>
        </p:spPr>
        <p:txBody>
          <a:bodyPr>
            <a:normAutofit/>
          </a:bodyPr>
          <a:lstStyle/>
          <a:p>
            <a:r>
              <a:rPr lang="en-GB" altLang="en-NL" sz="1800" dirty="0"/>
              <a:t>Student’s </a:t>
            </a:r>
            <a:r>
              <a:rPr lang="en-GB" altLang="en-NL" sz="1800" i="1" dirty="0"/>
              <a:t>t</a:t>
            </a:r>
            <a:r>
              <a:rPr lang="en-GB" altLang="en-NL" sz="1800" dirty="0"/>
              <a:t>-distribution, heavy-tailed</a:t>
            </a:r>
          </a:p>
          <a:p>
            <a:endParaRPr lang="en-GB" altLang="en-NL" sz="1800" dirty="0"/>
          </a:p>
          <a:p>
            <a:endParaRPr lang="en-GB" altLang="en-NL" sz="1800" dirty="0"/>
          </a:p>
          <a:p>
            <a:pPr marL="0" indent="0">
              <a:buNone/>
            </a:pPr>
            <a:endParaRPr lang="en-GB" altLang="en-NL" sz="1800" dirty="0"/>
          </a:p>
          <a:p>
            <a:r>
              <a:rPr lang="en-GB" altLang="en-NL" sz="1800" dirty="0"/>
              <a:t>Improvement of t-SNE compared to original SNE</a:t>
            </a:r>
            <a:endParaRPr lang="en-NL" altLang="en-NL" sz="1800" dirty="0"/>
          </a:p>
        </p:txBody>
      </p:sp>
      <p:pic>
        <p:nvPicPr>
          <p:cNvPr id="22531" name="Picture 4">
            <a:extLst>
              <a:ext uri="{FF2B5EF4-FFF2-40B4-BE49-F238E27FC236}">
                <a16:creationId xmlns:a16="http://schemas.microsoft.com/office/drawing/2014/main" id="{AD07A723-06D4-883E-130E-F12FF9E72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1720850"/>
            <a:ext cx="41814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Box 13">
            <a:extLst>
              <a:ext uri="{FF2B5EF4-FFF2-40B4-BE49-F238E27FC236}">
                <a16:creationId xmlns:a16="http://schemas.microsoft.com/office/drawing/2014/main" id="{233AF51F-7750-4806-282B-535C878FB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425" y="6157913"/>
            <a:ext cx="56911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NL" sz="1600">
                <a:latin typeface="Arial" panose="020B0604020202020204" pitchFamily="34" charset="0"/>
              </a:rPr>
              <a:t>van der Maaten, Hinton. </a:t>
            </a:r>
            <a:r>
              <a:rPr lang="en-GB" altLang="en-NL" sz="1600" i="1">
                <a:latin typeface="Arial" panose="020B0604020202020204" pitchFamily="34" charset="0"/>
              </a:rPr>
              <a:t>Visualizing High-Dimensional Data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NL" sz="1600" i="1">
                <a:latin typeface="Arial" panose="020B0604020202020204" pitchFamily="34" charset="0"/>
              </a:rPr>
              <a:t>Using t-SNE</a:t>
            </a:r>
            <a:r>
              <a:rPr lang="en-GB" altLang="en-NL" sz="1600">
                <a:latin typeface="Arial" panose="020B0604020202020204" pitchFamily="34" charset="0"/>
              </a:rPr>
              <a:t>. Journal of Machine Learning Research 9, 2008</a:t>
            </a:r>
            <a:endParaRPr lang="en-NL" altLang="en-NL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001DD009-8965-A497-BC52-28B3EAD70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NL" altLang="en-NL"/>
              <a:t>Gaussian vs. t-Distribution</a:t>
            </a:r>
          </a:p>
        </p:txBody>
      </p:sp>
      <p:sp>
        <p:nvSpPr>
          <p:cNvPr id="23554" name="Content Placeholder 5">
            <a:extLst>
              <a:ext uri="{FF2B5EF4-FFF2-40B4-BE49-F238E27FC236}">
                <a16:creationId xmlns:a16="http://schemas.microsoft.com/office/drawing/2014/main" id="{CB306FFF-42D5-118E-14E2-0F490F489F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16038"/>
            <a:ext cx="8496300" cy="2791142"/>
          </a:xfrm>
        </p:spPr>
        <p:txBody>
          <a:bodyPr>
            <a:normAutofit/>
          </a:bodyPr>
          <a:lstStyle/>
          <a:p>
            <a:r>
              <a:rPr lang="en-GB" altLang="en-NL" sz="1800" dirty="0"/>
              <a:t>Gaussian:</a:t>
            </a:r>
          </a:p>
          <a:p>
            <a:endParaRPr lang="en-GB" altLang="en-NL" sz="1800" dirty="0"/>
          </a:p>
          <a:p>
            <a:r>
              <a:rPr lang="en-GB" altLang="en-NL" sz="1800" dirty="0"/>
              <a:t>t-Distribution (1 degree of freedom):</a:t>
            </a:r>
          </a:p>
          <a:p>
            <a:endParaRPr lang="en-GB" altLang="en-NL" sz="1800" dirty="0"/>
          </a:p>
          <a:p>
            <a:r>
              <a:rPr lang="en-GB" altLang="en-NL" sz="1800" dirty="0"/>
              <a:t>S</a:t>
            </a:r>
            <a:r>
              <a:rPr lang="en-NL" altLang="en-NL" sz="1800" dirty="0"/>
              <a:t>imilar bell-shaped, symmetric curve</a:t>
            </a:r>
          </a:p>
          <a:p>
            <a:r>
              <a:rPr lang="en-GB" altLang="en-NL" sz="1800" dirty="0"/>
              <a:t>T</a:t>
            </a:r>
            <a:r>
              <a:rPr lang="en-NL" altLang="en-NL" sz="1800" dirty="0"/>
              <a:t>-distribution has a thicker tail</a:t>
            </a:r>
          </a:p>
          <a:p>
            <a:endParaRPr lang="en-NL" altLang="en-NL" sz="1800" dirty="0"/>
          </a:p>
        </p:txBody>
      </p:sp>
      <p:pic>
        <p:nvPicPr>
          <p:cNvPr id="23555" name="Picture 10">
            <a:extLst>
              <a:ext uri="{FF2B5EF4-FFF2-40B4-BE49-F238E27FC236}">
                <a16:creationId xmlns:a16="http://schemas.microsoft.com/office/drawing/2014/main" id="{51453B65-375F-08BC-30EB-2160AAACD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775" y="3657600"/>
            <a:ext cx="4795838" cy="305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7DE6392-7BEC-27EA-9C83-68A43C14AB13}"/>
              </a:ext>
            </a:extLst>
          </p:cNvPr>
          <p:cNvGrpSpPr/>
          <p:nvPr/>
        </p:nvGrpSpPr>
        <p:grpSpPr>
          <a:xfrm>
            <a:off x="1718733" y="1143000"/>
            <a:ext cx="1791230" cy="713423"/>
            <a:chOff x="1718733" y="1143000"/>
            <a:chExt cx="1791230" cy="713423"/>
          </a:xfrm>
        </p:grpSpPr>
        <p:pic>
          <p:nvPicPr>
            <p:cNvPr id="23557" name="Picture 14">
              <a:extLst>
                <a:ext uri="{FF2B5EF4-FFF2-40B4-BE49-F238E27FC236}">
                  <a16:creationId xmlns:a16="http://schemas.microsoft.com/office/drawing/2014/main" id="{F119127B-7928-EFAD-D907-0E6AEFC976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9588" y="1189673"/>
              <a:ext cx="1730375" cy="666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44F7FB0-9F0A-DFDA-C3B7-D29DEB7A906D}"/>
                </a:ext>
              </a:extLst>
            </p:cNvPr>
            <p:cNvSpPr/>
            <p:nvPr/>
          </p:nvSpPr>
          <p:spPr>
            <a:xfrm>
              <a:off x="1718733" y="1143000"/>
              <a:ext cx="787400" cy="694267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53EE409-CF78-681A-F098-ABCB98A19A03}"/>
              </a:ext>
            </a:extLst>
          </p:cNvPr>
          <p:cNvGrpSpPr/>
          <p:nvPr/>
        </p:nvGrpSpPr>
        <p:grpSpPr>
          <a:xfrm>
            <a:off x="4250266" y="1971359"/>
            <a:ext cx="1030394" cy="607016"/>
            <a:chOff x="4250266" y="1971359"/>
            <a:chExt cx="1030394" cy="607016"/>
          </a:xfrm>
        </p:grpSpPr>
        <p:pic>
          <p:nvPicPr>
            <p:cNvPr id="23556" name="Picture 12">
              <a:extLst>
                <a:ext uri="{FF2B5EF4-FFF2-40B4-BE49-F238E27FC236}">
                  <a16:creationId xmlns:a16="http://schemas.microsoft.com/office/drawing/2014/main" id="{894DB94D-5331-4D32-BEC6-D0ED243AF5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8313" y="1971359"/>
              <a:ext cx="1002347" cy="607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3F7A0DA-45A1-2532-BC7B-42590F6EA7B9}"/>
                </a:ext>
              </a:extLst>
            </p:cNvPr>
            <p:cNvSpPr/>
            <p:nvPr/>
          </p:nvSpPr>
          <p:spPr>
            <a:xfrm>
              <a:off x="4250266" y="2319868"/>
              <a:ext cx="203199" cy="245534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7674CFDE-409A-01A4-F496-74174B32F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altLang="en-NL"/>
              <a:t>Comparing Two Probability Distributions</a:t>
            </a:r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3C005304-4ABB-0B42-9FB8-093F1C9C3B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23658"/>
            <a:ext cx="8572500" cy="1782762"/>
          </a:xfrm>
        </p:spPr>
        <p:txBody>
          <a:bodyPr>
            <a:normAutofit/>
          </a:bodyPr>
          <a:lstStyle/>
          <a:p>
            <a:r>
              <a:rPr lang="en-GB" altLang="en-NL" sz="1800" dirty="0"/>
              <a:t>Minimizing the sum of the </a:t>
            </a:r>
            <a:r>
              <a:rPr lang="en-GB" altLang="en-NL" sz="1800" dirty="0" err="1"/>
              <a:t>Kullback-Leibler</a:t>
            </a:r>
            <a:r>
              <a:rPr lang="en-GB" altLang="en-NL" sz="1800" dirty="0"/>
              <a:t> divergences between the conditional probabilities</a:t>
            </a:r>
          </a:p>
          <a:p>
            <a:r>
              <a:rPr lang="en-GB" altLang="en-NL" sz="1800" dirty="0" err="1"/>
              <a:t>Kullback</a:t>
            </a:r>
            <a:r>
              <a:rPr lang="en-GB" altLang="en-NL" sz="1800" dirty="0"/>
              <a:t>–</a:t>
            </a:r>
            <a:r>
              <a:rPr lang="en-GB" altLang="en-NL" sz="1800" dirty="0" err="1"/>
              <a:t>Leibler</a:t>
            </a:r>
            <a:r>
              <a:rPr lang="en-GB" altLang="en-NL" sz="1800" dirty="0"/>
              <a:t> divergence is a type of statistical distance: how one distribution P is different from a second distribution Q</a:t>
            </a:r>
            <a:endParaRPr lang="en-NL" altLang="en-NL" sz="1800" dirty="0"/>
          </a:p>
        </p:txBody>
      </p:sp>
      <p:pic>
        <p:nvPicPr>
          <p:cNvPr id="24579" name="Picture 4">
            <a:extLst>
              <a:ext uri="{FF2B5EF4-FFF2-40B4-BE49-F238E27FC236}">
                <a16:creationId xmlns:a16="http://schemas.microsoft.com/office/drawing/2014/main" id="{9270A613-7D76-66FD-8440-4BF7D8DD1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775" y="2580005"/>
            <a:ext cx="2568575" cy="573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1A33D0-2045-FD9B-2EE3-C13EE12CE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858421"/>
              </p:ext>
            </p:extLst>
          </p:nvPr>
        </p:nvGraphicFramePr>
        <p:xfrm>
          <a:off x="1498600" y="3730625"/>
          <a:ext cx="2082800" cy="22098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49A51E-9F06-2ED1-7CD1-680D5A361C3D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3730625"/>
          <a:ext cx="2082800" cy="22098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C77973AB-1F7A-13ED-1392-1EC128F2186E}"/>
              </a:ext>
            </a:extLst>
          </p:cNvPr>
          <p:cNvGrpSpPr>
            <a:grpSpLocks/>
          </p:cNvGrpSpPr>
          <p:nvPr/>
        </p:nvGrpSpPr>
        <p:grpSpPr bwMode="auto">
          <a:xfrm>
            <a:off x="3852863" y="4465642"/>
            <a:ext cx="1509712" cy="635096"/>
            <a:chOff x="3852809" y="4466351"/>
            <a:chExt cx="1510301" cy="633983"/>
          </a:xfrm>
        </p:grpSpPr>
        <p:cxnSp>
          <p:nvCxnSpPr>
            <p:cNvPr id="24837" name="Straight Arrow Connector 8">
              <a:extLst>
                <a:ext uri="{FF2B5EF4-FFF2-40B4-BE49-F238E27FC236}">
                  <a16:creationId xmlns:a16="http://schemas.microsoft.com/office/drawing/2014/main" id="{2FFD6B3E-EBFF-B067-0B37-8D7FB79688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52809" y="4839128"/>
              <a:ext cx="1510301" cy="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838" name="TextBox 9">
              <a:extLst>
                <a:ext uri="{FF2B5EF4-FFF2-40B4-BE49-F238E27FC236}">
                  <a16:creationId xmlns:a16="http://schemas.microsoft.com/office/drawing/2014/main" id="{666E934E-0489-6BD0-6378-BC7AF843C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3411" y="4466351"/>
              <a:ext cx="1032865" cy="337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NL" altLang="en-NL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KL(P || Q)</a:t>
              </a:r>
            </a:p>
          </p:txBody>
        </p:sp>
        <p:sp>
          <p:nvSpPr>
            <p:cNvPr id="24839" name="TextBox 10">
              <a:extLst>
                <a:ext uri="{FF2B5EF4-FFF2-40B4-BE49-F238E27FC236}">
                  <a16:creationId xmlns:a16="http://schemas.microsoft.com/office/drawing/2014/main" id="{184F606E-0384-2771-70E1-8AC3BCDF3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481" y="4793096"/>
              <a:ext cx="846203" cy="307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NL" altLang="en-NL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minimize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0233D59-6558-45C5-36F0-535A36F46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3" y="3421063"/>
            <a:ext cx="21771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400" dirty="0">
                <a:latin typeface="+mn-lt"/>
              </a:rPr>
              <a:t>High-dimensional similarity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E8C12C-BCC8-94CA-A0DF-BE81D4E7D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3429000"/>
            <a:ext cx="21374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400" dirty="0">
                <a:latin typeface="+mn-lt"/>
              </a:rPr>
              <a:t>Low-dimensional similarity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AAA730-F559-5983-693F-D1A03AD26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475" y="3633788"/>
            <a:ext cx="365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x</a:t>
            </a:r>
            <a:r>
              <a:rPr lang="en-NL" altLang="en-NL" sz="1800" i="1" baseline="-25000">
                <a:latin typeface="Times" pitchFamily="2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8F7AD5-5CC6-5997-D791-DC28B43B5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3848100"/>
            <a:ext cx="363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x</a:t>
            </a:r>
            <a:r>
              <a:rPr lang="en-NL" altLang="en-NL" sz="1800" i="1" baseline="-25000">
                <a:latin typeface="Times" pitchFamily="2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4D04D2-0F95-A5CE-D658-7DECEE3EA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25" y="5875338"/>
            <a:ext cx="365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x</a:t>
            </a:r>
            <a:r>
              <a:rPr lang="en-NL" altLang="en-NL" sz="1800" i="1" baseline="-25000">
                <a:latin typeface="Times" pitchFamily="2" charset="0"/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828929-10C0-8725-686A-E2C176718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5872163"/>
            <a:ext cx="363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x</a:t>
            </a:r>
            <a:r>
              <a:rPr lang="en-NL" altLang="en-NL" sz="1800" i="1" baseline="-25000">
                <a:latin typeface="Times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5F6AA9-CD69-5EEA-AD8F-2A448E4BC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588" y="3879850"/>
            <a:ext cx="365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 dirty="0">
                <a:latin typeface="Times" pitchFamily="2" charset="0"/>
              </a:rPr>
              <a:t>y</a:t>
            </a:r>
            <a:r>
              <a:rPr lang="en-NL" altLang="en-NL" sz="1800" i="1" baseline="-25000" dirty="0">
                <a:latin typeface="Times" pitchFamily="2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F63B3D-219B-1DAD-6011-1BCD1FB4D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50" y="3633788"/>
            <a:ext cx="365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 dirty="0">
                <a:latin typeface="Times" pitchFamily="2" charset="0"/>
              </a:rPr>
              <a:t>y</a:t>
            </a:r>
            <a:r>
              <a:rPr lang="en-NL" altLang="en-NL" sz="1800" i="1" baseline="-25000" dirty="0">
                <a:latin typeface="Times" pitchFamily="2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5C368-9053-6788-0735-B521E7389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350" y="5853113"/>
            <a:ext cx="363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y</a:t>
            </a:r>
            <a:r>
              <a:rPr lang="en-NL" altLang="en-NL" sz="1800" i="1" baseline="-25000">
                <a:latin typeface="Times" pitchFamily="2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64CC3A-BD04-7833-21A4-03973370E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5848350"/>
            <a:ext cx="365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y</a:t>
            </a:r>
            <a:r>
              <a:rPr lang="en-NL" altLang="en-NL" sz="1800" i="1" baseline="-25000">
                <a:latin typeface="Times" pitchFamily="2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5D7D46C8-E0B3-8247-725F-2D9A67136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altLang="en-NL"/>
              <a:t>Comparing Two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442E7-6F41-3EBF-E530-20CE4A63BA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9733" y="4807744"/>
            <a:ext cx="8572500" cy="1782762"/>
          </a:xfrm>
        </p:spPr>
        <p:txBody>
          <a:bodyPr>
            <a:noAutofit/>
          </a:bodyPr>
          <a:lstStyle/>
          <a:p>
            <a:r>
              <a:rPr lang="en-NL" altLang="en-NL" sz="1800" dirty="0"/>
              <a:t>P is fixed: similarities in high-dimensional space</a:t>
            </a:r>
          </a:p>
          <a:p>
            <a:r>
              <a:rPr lang="en-NL" altLang="en-NL" sz="1800" dirty="0"/>
              <a:t>Q is flexible: similarities in low-dimensional space</a:t>
            </a:r>
          </a:p>
          <a:p>
            <a:pPr lvl="1"/>
            <a:r>
              <a:rPr lang="en-NL" altLang="en-NL" sz="1600" dirty="0"/>
              <a:t>depends on location of points in low-dimensional space</a:t>
            </a:r>
          </a:p>
          <a:p>
            <a:r>
              <a:rPr lang="en-NL" altLang="en-NL" sz="1800" dirty="0"/>
              <a:t>Gradient descent: move points in direction that minimizes KL</a:t>
            </a:r>
          </a:p>
          <a:p>
            <a:r>
              <a:rPr lang="en-NL" altLang="en-NL" sz="1800" dirty="0"/>
              <a:t>Local optimum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E102D78-C611-7EBF-43B4-305A519D0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968882"/>
              </p:ext>
            </p:extLst>
          </p:nvPr>
        </p:nvGraphicFramePr>
        <p:xfrm>
          <a:off x="1498600" y="1819593"/>
          <a:ext cx="2082800" cy="22082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1478E4-687B-4E8B-2A61-8709A90E0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68787"/>
              </p:ext>
            </p:extLst>
          </p:nvPr>
        </p:nvGraphicFramePr>
        <p:xfrm>
          <a:off x="5562600" y="1819593"/>
          <a:ext cx="2082800" cy="22082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821"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/>
                    </a:p>
                  </a:txBody>
                  <a:tcPr marT="45699" marB="45699"/>
                </a:tc>
                <a:tc>
                  <a:txBody>
                    <a:bodyPr/>
                    <a:lstStyle/>
                    <a:p>
                      <a:endParaRPr lang="en-NL" sz="600" dirty="0"/>
                    </a:p>
                  </a:txBody>
                  <a:tcPr marT="45699" marB="4569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849" name="Group 23">
            <a:extLst>
              <a:ext uri="{FF2B5EF4-FFF2-40B4-BE49-F238E27FC236}">
                <a16:creationId xmlns:a16="http://schemas.microsoft.com/office/drawing/2014/main" id="{4ACF85C6-0B21-1DA5-74F5-635D08DEB197}"/>
              </a:ext>
            </a:extLst>
          </p:cNvPr>
          <p:cNvGrpSpPr>
            <a:grpSpLocks/>
          </p:cNvGrpSpPr>
          <p:nvPr/>
        </p:nvGrpSpPr>
        <p:grpSpPr bwMode="auto">
          <a:xfrm>
            <a:off x="3852863" y="2554605"/>
            <a:ext cx="1509712" cy="649288"/>
            <a:chOff x="3852809" y="4466351"/>
            <a:chExt cx="1510301" cy="649735"/>
          </a:xfrm>
        </p:grpSpPr>
        <p:cxnSp>
          <p:nvCxnSpPr>
            <p:cNvPr id="25861" name="Straight Arrow Connector 8">
              <a:extLst>
                <a:ext uri="{FF2B5EF4-FFF2-40B4-BE49-F238E27FC236}">
                  <a16:creationId xmlns:a16="http://schemas.microsoft.com/office/drawing/2014/main" id="{8CE4ECB0-CA32-8AB9-DC06-5EB5CACB29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52809" y="4839128"/>
              <a:ext cx="1510301" cy="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862" name="TextBox 9">
              <a:extLst>
                <a:ext uri="{FF2B5EF4-FFF2-40B4-BE49-F238E27FC236}">
                  <a16:creationId xmlns:a16="http://schemas.microsoft.com/office/drawing/2014/main" id="{6CCFAF97-2030-2251-A18B-7A8139AEE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558" y="4466351"/>
              <a:ext cx="11968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NL" altLang="en-NL" sz="1800">
                  <a:latin typeface="Arial" panose="020B0604020202020204" pitchFamily="34" charset="0"/>
                </a:rPr>
                <a:t>KL(P || Q)</a:t>
              </a:r>
            </a:p>
          </p:txBody>
        </p:sp>
        <p:sp>
          <p:nvSpPr>
            <p:cNvPr id="25863" name="TextBox 10">
              <a:extLst>
                <a:ext uri="{FF2B5EF4-FFF2-40B4-BE49-F238E27FC236}">
                  <a16:creationId xmlns:a16="http://schemas.microsoft.com/office/drawing/2014/main" id="{227BBC5B-8C13-7114-075E-5A91B7247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120" y="4808309"/>
              <a:ext cx="89159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70000"/>
                <a:buFont typeface="Webdings" pitchFamily="2" charset="2"/>
                <a:buChar char="g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SzPct val="60000"/>
                <a:buFont typeface="Webdings" pitchFamily="2" charset="2"/>
                <a:buChar char="g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NL" altLang="en-NL" sz="1400">
                  <a:latin typeface="Arial" panose="020B0604020202020204" pitchFamily="34" charset="0"/>
                </a:rPr>
                <a:t>minimize</a:t>
              </a:r>
            </a:p>
          </p:txBody>
        </p:sp>
      </p:grpSp>
      <p:sp>
        <p:nvSpPr>
          <p:cNvPr id="25850" name="TextBox 11">
            <a:extLst>
              <a:ext uri="{FF2B5EF4-FFF2-40B4-BE49-F238E27FC236}">
                <a16:creationId xmlns:a16="http://schemas.microsoft.com/office/drawing/2014/main" id="{56D2ABF2-0F14-8080-FA43-E1EDB09E7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3" y="1508443"/>
            <a:ext cx="2314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400">
                <a:latin typeface="Arial" panose="020B0604020202020204" pitchFamily="34" charset="0"/>
              </a:rPr>
              <a:t>High-dimensional similarity</a:t>
            </a:r>
          </a:p>
        </p:txBody>
      </p:sp>
      <p:sp>
        <p:nvSpPr>
          <p:cNvPr id="25851" name="TextBox 12">
            <a:extLst>
              <a:ext uri="{FF2B5EF4-FFF2-40B4-BE49-F238E27FC236}">
                <a16:creationId xmlns:a16="http://schemas.microsoft.com/office/drawing/2014/main" id="{534E19AD-8E7A-0E0B-8772-F28E56793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1516380"/>
            <a:ext cx="22764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400">
                <a:latin typeface="Arial" panose="020B0604020202020204" pitchFamily="34" charset="0"/>
              </a:rPr>
              <a:t>Low-dimensional similarity</a:t>
            </a:r>
          </a:p>
        </p:txBody>
      </p:sp>
      <p:sp>
        <p:nvSpPr>
          <p:cNvPr id="25852" name="TextBox 13">
            <a:extLst>
              <a:ext uri="{FF2B5EF4-FFF2-40B4-BE49-F238E27FC236}">
                <a16:creationId xmlns:a16="http://schemas.microsoft.com/office/drawing/2014/main" id="{324A9B1B-A70E-7B5D-CB5E-13BDECBD4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475" y="1722755"/>
            <a:ext cx="365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x</a:t>
            </a:r>
            <a:r>
              <a:rPr lang="en-NL" altLang="en-NL" sz="1800" i="1" baseline="-25000">
                <a:latin typeface="Times" pitchFamily="2" charset="0"/>
              </a:rPr>
              <a:t>0</a:t>
            </a:r>
          </a:p>
        </p:txBody>
      </p:sp>
      <p:sp>
        <p:nvSpPr>
          <p:cNvPr id="25853" name="TextBox 14">
            <a:extLst>
              <a:ext uri="{FF2B5EF4-FFF2-40B4-BE49-F238E27FC236}">
                <a16:creationId xmlns:a16="http://schemas.microsoft.com/office/drawing/2014/main" id="{079694CA-8F07-7A20-8835-CCFF37690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1935480"/>
            <a:ext cx="363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x</a:t>
            </a:r>
            <a:r>
              <a:rPr lang="en-NL" altLang="en-NL" sz="1800" i="1" baseline="-25000">
                <a:latin typeface="Times" pitchFamily="2" charset="0"/>
              </a:rPr>
              <a:t>1</a:t>
            </a:r>
          </a:p>
        </p:txBody>
      </p:sp>
      <p:sp>
        <p:nvSpPr>
          <p:cNvPr id="25854" name="TextBox 15">
            <a:extLst>
              <a:ext uri="{FF2B5EF4-FFF2-40B4-BE49-F238E27FC236}">
                <a16:creationId xmlns:a16="http://schemas.microsoft.com/office/drawing/2014/main" id="{F65EDE60-5794-CA70-FA0A-D56FD9C22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25" y="3962718"/>
            <a:ext cx="365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x</a:t>
            </a:r>
            <a:r>
              <a:rPr lang="en-NL" altLang="en-NL" sz="1800" i="1" baseline="-25000">
                <a:latin typeface="Times" pitchFamily="2" charset="0"/>
              </a:rPr>
              <a:t>0</a:t>
            </a:r>
          </a:p>
        </p:txBody>
      </p:sp>
      <p:sp>
        <p:nvSpPr>
          <p:cNvPr id="25855" name="TextBox 16">
            <a:extLst>
              <a:ext uri="{FF2B5EF4-FFF2-40B4-BE49-F238E27FC236}">
                <a16:creationId xmlns:a16="http://schemas.microsoft.com/office/drawing/2014/main" id="{C38A44A3-FA49-64B4-68CD-7BCDB3880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3961130"/>
            <a:ext cx="363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x</a:t>
            </a:r>
            <a:r>
              <a:rPr lang="en-NL" altLang="en-NL" sz="1800" i="1" baseline="-25000">
                <a:latin typeface="Times" pitchFamily="2" charset="0"/>
              </a:rPr>
              <a:t>1</a:t>
            </a:r>
          </a:p>
        </p:txBody>
      </p:sp>
      <p:sp>
        <p:nvSpPr>
          <p:cNvPr id="25856" name="TextBox 17">
            <a:extLst>
              <a:ext uri="{FF2B5EF4-FFF2-40B4-BE49-F238E27FC236}">
                <a16:creationId xmlns:a16="http://schemas.microsoft.com/office/drawing/2014/main" id="{CB9CAA95-D7D7-5410-294C-CD6D8F8CF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588" y="1967230"/>
            <a:ext cx="36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y</a:t>
            </a:r>
            <a:r>
              <a:rPr lang="en-NL" altLang="en-NL" sz="1800" i="1" baseline="-25000">
                <a:latin typeface="Times" pitchFamily="2" charset="0"/>
              </a:rPr>
              <a:t>1</a:t>
            </a:r>
          </a:p>
        </p:txBody>
      </p:sp>
      <p:sp>
        <p:nvSpPr>
          <p:cNvPr id="25857" name="TextBox 18">
            <a:extLst>
              <a:ext uri="{FF2B5EF4-FFF2-40B4-BE49-F238E27FC236}">
                <a16:creationId xmlns:a16="http://schemas.microsoft.com/office/drawing/2014/main" id="{02E048AB-6E12-C2D2-2DF0-4A3F3D98E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50" y="1721168"/>
            <a:ext cx="365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y</a:t>
            </a:r>
            <a:r>
              <a:rPr lang="en-NL" altLang="en-NL" sz="1800" i="1" baseline="-25000">
                <a:latin typeface="Times" pitchFamily="2" charset="0"/>
              </a:rPr>
              <a:t>0</a:t>
            </a:r>
          </a:p>
        </p:txBody>
      </p:sp>
      <p:sp>
        <p:nvSpPr>
          <p:cNvPr id="25858" name="TextBox 20">
            <a:extLst>
              <a:ext uri="{FF2B5EF4-FFF2-40B4-BE49-F238E27FC236}">
                <a16:creationId xmlns:a16="http://schemas.microsoft.com/office/drawing/2014/main" id="{626A5F21-185B-6B2E-AB51-EAAE0DB6A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350" y="3942080"/>
            <a:ext cx="363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y</a:t>
            </a:r>
            <a:r>
              <a:rPr lang="en-NL" altLang="en-NL" sz="1800" i="1" baseline="-25000">
                <a:latin typeface="Times" pitchFamily="2" charset="0"/>
              </a:rPr>
              <a:t>1</a:t>
            </a:r>
          </a:p>
        </p:txBody>
      </p:sp>
      <p:sp>
        <p:nvSpPr>
          <p:cNvPr id="25859" name="TextBox 21">
            <a:extLst>
              <a:ext uri="{FF2B5EF4-FFF2-40B4-BE49-F238E27FC236}">
                <a16:creationId xmlns:a16="http://schemas.microsoft.com/office/drawing/2014/main" id="{643EB323-87B4-E739-77B3-07FE8C0C5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3935730"/>
            <a:ext cx="36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70000"/>
              <a:buFont typeface="Webdings" pitchFamily="2" charset="2"/>
              <a:buChar char="g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SzPct val="60000"/>
              <a:buFont typeface="Webdings" pitchFamily="2" charset="2"/>
              <a:buChar char="g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NL" altLang="en-NL" sz="1800" i="1">
                <a:latin typeface="Times" pitchFamily="2" charset="0"/>
              </a:rPr>
              <a:t>y</a:t>
            </a:r>
            <a:r>
              <a:rPr lang="en-NL" altLang="en-NL" sz="1800" i="1" baseline="-25000">
                <a:latin typeface="Times" pitchFamily="2" charset="0"/>
              </a:rPr>
              <a:t>0</a:t>
            </a:r>
          </a:p>
        </p:txBody>
      </p:sp>
      <p:sp>
        <p:nvSpPr>
          <p:cNvPr id="4" name="Circular Arrow 3">
            <a:extLst>
              <a:ext uri="{FF2B5EF4-FFF2-40B4-BE49-F238E27FC236}">
                <a16:creationId xmlns:a16="http://schemas.microsoft.com/office/drawing/2014/main" id="{065D1181-E72D-702E-F6B2-DDA0B51978DC}"/>
              </a:ext>
            </a:extLst>
          </p:cNvPr>
          <p:cNvSpPr/>
          <p:nvPr/>
        </p:nvSpPr>
        <p:spPr bwMode="auto">
          <a:xfrm rot="7365184">
            <a:off x="7313613" y="3581717"/>
            <a:ext cx="666750" cy="822325"/>
          </a:xfrm>
          <a:prstGeom prst="circularArrow">
            <a:avLst>
              <a:gd name="adj1" fmla="val 6430"/>
              <a:gd name="adj2" fmla="val 2048094"/>
              <a:gd name="adj3" fmla="val 20457685"/>
              <a:gd name="adj4" fmla="val 10800000"/>
              <a:gd name="adj5" fmla="val 17319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NL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DCE93D2E-564E-9D09-9274-30C42C214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NL" altLang="en-NL"/>
              <a:t>t-SNE on MNIST Dataset</a:t>
            </a:r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5880911F-BDE8-829B-7D44-0E49071D6E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altLang="en-NL" sz="1800" dirty="0"/>
              <a:t>Hand-written digit recognition</a:t>
            </a:r>
          </a:p>
          <a:p>
            <a:r>
              <a:rPr lang="en-NL" altLang="en-NL" sz="1800" dirty="0"/>
              <a:t>28x28 pixels</a:t>
            </a:r>
          </a:p>
          <a:p>
            <a:r>
              <a:rPr lang="en-NL" altLang="en-NL" sz="1800" dirty="0"/>
              <a:t>784 dimensions</a:t>
            </a:r>
          </a:p>
          <a:p>
            <a:endParaRPr lang="en-NL" altLang="en-NL" sz="1800" dirty="0"/>
          </a:p>
        </p:txBody>
      </p:sp>
      <p:pic>
        <p:nvPicPr>
          <p:cNvPr id="26627" name="Picture 2" descr="MNIST sample images">
            <a:extLst>
              <a:ext uri="{FF2B5EF4-FFF2-40B4-BE49-F238E27FC236}">
                <a16:creationId xmlns:a16="http://schemas.microsoft.com/office/drawing/2014/main" id="{A902883E-1222-5E96-7D6D-B7ECF6494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82"/>
          <a:stretch>
            <a:fillRect/>
          </a:stretch>
        </p:blipFill>
        <p:spPr bwMode="auto">
          <a:xfrm>
            <a:off x="6422073" y="1201136"/>
            <a:ext cx="2349500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F50808-9157-1A60-5F79-68484D226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608263"/>
            <a:ext cx="7772400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723F-FAE0-8B41-182B-00D8968C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Perplexity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0D4F7-1B77-F228-02A6-315420E13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9785"/>
            <a:ext cx="8164830" cy="5380522"/>
          </a:xfrm>
        </p:spPr>
        <p:txBody>
          <a:bodyPr>
            <a:normAutofit/>
          </a:bodyPr>
          <a:lstStyle/>
          <a:p>
            <a:r>
              <a:rPr lang="en-GB" sz="1800" dirty="0"/>
              <a:t>Perplexity affects balance between local and global structure</a:t>
            </a:r>
          </a:p>
          <a:p>
            <a:r>
              <a:rPr lang="en-GB" sz="1800" dirty="0"/>
              <a:t>It defines the number of effective neighbours</a:t>
            </a:r>
          </a:p>
          <a:p>
            <a:r>
              <a:rPr lang="en-GB" sz="1800" dirty="0"/>
              <a:t>Small Perplexity (5-30):</a:t>
            </a:r>
          </a:p>
          <a:p>
            <a:pPr lvl="1"/>
            <a:r>
              <a:rPr lang="en-GB" sz="1600" dirty="0"/>
              <a:t>fewer points as neighbours, focusing more on very local clusters</a:t>
            </a:r>
          </a:p>
          <a:p>
            <a:pPr lvl="1"/>
            <a:r>
              <a:rPr lang="en-GB" sz="1600" dirty="0"/>
              <a:t>can miss the larger global structure</a:t>
            </a:r>
          </a:p>
          <a:p>
            <a:r>
              <a:rPr lang="en-GB" sz="1800" dirty="0"/>
              <a:t>Large Perplexity (e.g., 30-100):</a:t>
            </a:r>
          </a:p>
          <a:p>
            <a:pPr lvl="1"/>
            <a:r>
              <a:rPr lang="en-GB" sz="1600" dirty="0"/>
              <a:t>more points are considered as neighbours, giving a more global view of the dataset</a:t>
            </a:r>
          </a:p>
          <a:p>
            <a:pPr lvl="1"/>
            <a:r>
              <a:rPr lang="en-GB" sz="1600" dirty="0"/>
              <a:t>broader patterns, might smooth out finer details</a:t>
            </a:r>
            <a:endParaRPr lang="en-GB" sz="1800" dirty="0"/>
          </a:p>
          <a:p>
            <a:pPr lvl="1"/>
            <a:endParaRPr lang="en-NL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99190-1117-0831-D756-99920BCA5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776" y="4519444"/>
            <a:ext cx="2007224" cy="2179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274FC1-0BE5-C5F4-F3DC-33F39ADC9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957" y="4519444"/>
            <a:ext cx="2040614" cy="21795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BD4415-456B-FCC9-F9A2-CAA500BE7C72}"/>
              </a:ext>
            </a:extLst>
          </p:cNvPr>
          <p:cNvSpPr txBox="1"/>
          <p:nvPr/>
        </p:nvSpPr>
        <p:spPr>
          <a:xfrm>
            <a:off x="1267438" y="5493265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perplexity=5.0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598D05-66C6-9A15-D8FB-A954562F4E6C}"/>
              </a:ext>
            </a:extLst>
          </p:cNvPr>
          <p:cNvSpPr txBox="1"/>
          <p:nvPr/>
        </p:nvSpPr>
        <p:spPr>
          <a:xfrm>
            <a:off x="6970946" y="5493265"/>
            <a:ext cx="1765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perplexity=200.0 </a:t>
            </a:r>
          </a:p>
        </p:txBody>
      </p:sp>
    </p:spTree>
    <p:extLst>
      <p:ext uri="{BB962C8B-B14F-4D97-AF65-F5344CB8AC3E}">
        <p14:creationId xmlns:p14="http://schemas.microsoft.com/office/powerpoint/2010/main" val="2250068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7B03F581-0691-2243-C6BB-A7A5EEDA3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NL" altLang="en-NL"/>
              <a:t>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4F97-52CA-FC71-99C9-F79950EA6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NL" sz="1800" dirty="0"/>
              <a:t>Non-linear mapping</a:t>
            </a:r>
          </a:p>
          <a:p>
            <a:pPr>
              <a:defRPr/>
            </a:pPr>
            <a:r>
              <a:rPr lang="en-NL" sz="1800" dirty="0"/>
              <a:t>Close points end up close in low-dimensional space</a:t>
            </a:r>
          </a:p>
          <a:p>
            <a:pPr>
              <a:defRPr/>
            </a:pPr>
            <a:r>
              <a:rPr lang="en-NL" sz="1800" dirty="0"/>
              <a:t>Proximity in low-dimensional space is no guarantee for original proximity</a:t>
            </a:r>
          </a:p>
          <a:p>
            <a:pPr>
              <a:defRPr/>
            </a:pPr>
            <a:r>
              <a:rPr lang="en-NL" sz="1800" dirty="0"/>
              <a:t>Good separation between clusters</a:t>
            </a:r>
          </a:p>
          <a:p>
            <a:pPr>
              <a:defRPr/>
            </a:pPr>
            <a:r>
              <a:rPr lang="en-NL" sz="1800" dirty="0"/>
              <a:t>No function is learned</a:t>
            </a:r>
          </a:p>
          <a:p>
            <a:pPr lvl="1">
              <a:defRPr/>
            </a:pPr>
            <a:r>
              <a:rPr lang="en-NL" sz="1600" dirty="0"/>
              <a:t>‘only on the training set’</a:t>
            </a:r>
          </a:p>
          <a:p>
            <a:pPr>
              <a:defRPr/>
            </a:pPr>
            <a:r>
              <a:rPr lang="en-NL" sz="1800" dirty="0"/>
              <a:t>Local optimum</a:t>
            </a:r>
          </a:p>
          <a:p>
            <a:pPr lvl="1">
              <a:defRPr/>
            </a:pPr>
            <a:r>
              <a:rPr lang="en-NL" sz="1600" dirty="0"/>
              <a:t>re-run with differ</a:t>
            </a:r>
            <a:r>
              <a:rPr lang="en-GB" sz="1600" dirty="0"/>
              <a:t>e</a:t>
            </a:r>
            <a:r>
              <a:rPr lang="en-NL" sz="1600" dirty="0"/>
              <a:t>nt seed</a:t>
            </a:r>
          </a:p>
          <a:p>
            <a:pPr marL="457200" lvl="1" indent="0">
              <a:buFont typeface="Webdings" pitchFamily="2" charset="2"/>
              <a:buNone/>
              <a:defRPr/>
            </a:pPr>
            <a:endParaRPr lang="en-NL" sz="1600" dirty="0"/>
          </a:p>
          <a:p>
            <a:pPr>
              <a:defRPr/>
            </a:pPr>
            <a:endParaRPr lang="en-NL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90EAED88-D796-97B9-FBF3-AAF6838BE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NL" altLang="en-NL"/>
              <a:t>Sklearn Implementation</a:t>
            </a:r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72E73E52-70AE-ACBB-B01E-2B40CE3548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675687" cy="5111750"/>
          </a:xfrm>
        </p:spPr>
        <p:txBody>
          <a:bodyPr>
            <a:normAutofit/>
          </a:bodyPr>
          <a:lstStyle/>
          <a:p>
            <a:pPr marL="0" indent="0">
              <a:buFont typeface="Webdings" pitchFamily="2" charset="2"/>
              <a:buNone/>
            </a:pPr>
            <a:r>
              <a:rPr lang="en-GB" altLang="en-NL" sz="1800" u="sng" dirty="0" err="1">
                <a:latin typeface="Courier" panose="02070309020205020404" pitchFamily="49" charset="0"/>
              </a:rPr>
              <a:t>sklearn.manifold.TSNE</a:t>
            </a:r>
            <a:endParaRPr lang="en-GB" altLang="en-NL" sz="1800" u="sng" dirty="0">
              <a:latin typeface="Courier" panose="02070309020205020404" pitchFamily="49" charset="0"/>
            </a:endParaRPr>
          </a:p>
          <a:p>
            <a:pPr marL="0" indent="0">
              <a:buFont typeface="Webdings" pitchFamily="2" charset="2"/>
              <a:buNone/>
            </a:pPr>
            <a:endParaRPr lang="en-GB" altLang="en-NL" sz="1800" dirty="0"/>
          </a:p>
          <a:p>
            <a:pPr marL="0" indent="0">
              <a:buFont typeface="Webdings" pitchFamily="2" charset="2"/>
              <a:buNone/>
            </a:pPr>
            <a:r>
              <a:rPr lang="en-GB" altLang="en-NL" sz="1400" dirty="0" err="1">
                <a:latin typeface="Courier" panose="02070309020205020404" pitchFamily="49" charset="0"/>
              </a:rPr>
              <a:t>n_components</a:t>
            </a:r>
            <a:r>
              <a:rPr lang="en-GB" altLang="en-NL" sz="1400" dirty="0"/>
              <a:t>, default=2		Dimension of the embedded space</a:t>
            </a:r>
          </a:p>
          <a:p>
            <a:pPr marL="0" indent="0">
              <a:buFont typeface="Webdings" pitchFamily="2" charset="2"/>
              <a:buNone/>
            </a:pPr>
            <a:r>
              <a:rPr lang="en-GB" altLang="en-NL" sz="1400" dirty="0">
                <a:latin typeface="Courier" panose="02070309020205020404" pitchFamily="49" charset="0"/>
              </a:rPr>
              <a:t>perplexity</a:t>
            </a:r>
            <a:r>
              <a:rPr lang="en-GB" altLang="en-NL" sz="1400" dirty="0"/>
              <a:t>, default=30.0		Related to number of nearest neighbours</a:t>
            </a:r>
          </a:p>
          <a:p>
            <a:pPr marL="0" indent="0">
              <a:buFont typeface="Webdings" pitchFamily="2" charset="2"/>
              <a:buNone/>
            </a:pPr>
            <a:r>
              <a:rPr lang="en-GB" altLang="en-NL" sz="1400" dirty="0" err="1">
                <a:latin typeface="Courier" panose="02070309020205020404" pitchFamily="49" charset="0"/>
              </a:rPr>
              <a:t>max_iter</a:t>
            </a:r>
            <a:r>
              <a:rPr lang="en-GB" altLang="en-NL" sz="1400" dirty="0"/>
              <a:t>, default=None		Max number of iterations for optimisation</a:t>
            </a:r>
          </a:p>
          <a:p>
            <a:pPr marL="0" indent="0">
              <a:buFont typeface="Webdings" pitchFamily="2" charset="2"/>
              <a:buNone/>
            </a:pPr>
            <a:r>
              <a:rPr lang="en-GB" altLang="en-NL" sz="1400" dirty="0" err="1">
                <a:latin typeface="Courier" panose="02070309020205020404" pitchFamily="49" charset="0"/>
              </a:rPr>
              <a:t>init</a:t>
            </a:r>
            <a:r>
              <a:rPr lang="en-GB" altLang="en-NL" sz="1400" dirty="0">
                <a:latin typeface="Courier" panose="02070309020205020404" pitchFamily="49" charset="0"/>
              </a:rPr>
              <a:t>{‘random’, ‘</a:t>
            </a:r>
            <a:r>
              <a:rPr lang="en-GB" altLang="en-NL" sz="1400" dirty="0" err="1">
                <a:latin typeface="Courier" panose="02070309020205020404" pitchFamily="49" charset="0"/>
              </a:rPr>
              <a:t>pca</a:t>
            </a:r>
            <a:r>
              <a:rPr lang="en-GB" altLang="en-NL" sz="1400" dirty="0">
                <a:latin typeface="Courier" panose="02070309020205020404" pitchFamily="49" charset="0"/>
              </a:rPr>
              <a:t>’}</a:t>
            </a:r>
            <a:r>
              <a:rPr lang="en-GB" altLang="en-NL" sz="1400" dirty="0"/>
              <a:t>		Initialisation of embedding</a:t>
            </a:r>
          </a:p>
          <a:p>
            <a:pPr marL="0" indent="0">
              <a:buFont typeface="Webdings" pitchFamily="2" charset="2"/>
              <a:buNone/>
            </a:pPr>
            <a:r>
              <a:rPr lang="en-GB" altLang="en-NL" sz="1400" dirty="0" err="1">
                <a:latin typeface="Courier" panose="02070309020205020404" pitchFamily="49" charset="0"/>
              </a:rPr>
              <a:t>random_state</a:t>
            </a:r>
            <a:r>
              <a:rPr lang="en-GB" altLang="en-NL" sz="1400" dirty="0"/>
              <a:t>, default=None		Determines the random number generator</a:t>
            </a:r>
          </a:p>
          <a:p>
            <a:pPr marL="0" indent="0">
              <a:buFont typeface="Webdings" pitchFamily="2" charset="2"/>
              <a:buNone/>
            </a:pPr>
            <a:endParaRPr lang="en-GB" altLang="en-NL" sz="1000" dirty="0"/>
          </a:p>
          <a:p>
            <a:pPr marL="0" indent="0">
              <a:buFont typeface="Webdings" pitchFamily="2" charset="2"/>
              <a:buNone/>
            </a:pPr>
            <a:r>
              <a:rPr lang="en-GB" altLang="en-NL" sz="1400" dirty="0"/>
              <a:t>e.g.</a:t>
            </a:r>
          </a:p>
          <a:p>
            <a:pPr marL="0" indent="-114300">
              <a:buNone/>
            </a:pPr>
            <a:r>
              <a:rPr lang="en-GB" altLang="en-NL" sz="1200" dirty="0">
                <a:latin typeface="Courier" panose="02070309020205020404" pitchFamily="49" charset="0"/>
              </a:rPr>
              <a:t>X, y = </a:t>
            </a:r>
            <a:r>
              <a:rPr lang="en-GB" altLang="en-NL" sz="1200" dirty="0" err="1">
                <a:latin typeface="Courier" panose="02070309020205020404" pitchFamily="49" charset="0"/>
              </a:rPr>
              <a:t>datasets.load_digits</a:t>
            </a:r>
            <a:r>
              <a:rPr lang="en-GB" altLang="en-NL" sz="1200" dirty="0">
                <a:latin typeface="Courier" panose="02070309020205020404" pitchFamily="49" charset="0"/>
              </a:rPr>
              <a:t>(</a:t>
            </a:r>
            <a:r>
              <a:rPr lang="en-GB" altLang="en-NL" sz="1200" dirty="0" err="1">
                <a:latin typeface="Courier" panose="02070309020205020404" pitchFamily="49" charset="0"/>
              </a:rPr>
              <a:t>return_X_y</a:t>
            </a:r>
            <a:r>
              <a:rPr lang="en-GB" altLang="en-NL" sz="1200" dirty="0">
                <a:latin typeface="Courier" panose="02070309020205020404" pitchFamily="49" charset="0"/>
              </a:rPr>
              <a:t>=True)</a:t>
            </a:r>
          </a:p>
          <a:p>
            <a:pPr marL="0" indent="-114300">
              <a:buNone/>
            </a:pPr>
            <a:r>
              <a:rPr lang="en-GB" altLang="en-NL" sz="1200" dirty="0" err="1">
                <a:latin typeface="Courier" panose="02070309020205020404" pitchFamily="49" charset="0"/>
              </a:rPr>
              <a:t>tsne</a:t>
            </a:r>
            <a:r>
              <a:rPr lang="en-GB" altLang="en-NL" sz="1200" dirty="0">
                <a:latin typeface="Courier" panose="02070309020205020404" pitchFamily="49" charset="0"/>
              </a:rPr>
              <a:t> = </a:t>
            </a:r>
            <a:r>
              <a:rPr lang="en-GB" altLang="en-NL" sz="1200" dirty="0" err="1">
                <a:latin typeface="Courier" panose="02070309020205020404" pitchFamily="49" charset="0"/>
              </a:rPr>
              <a:t>make_pipeline</a:t>
            </a:r>
            <a:r>
              <a:rPr lang="en-GB" altLang="en-NL" sz="1200" dirty="0">
                <a:latin typeface="Courier" panose="02070309020205020404" pitchFamily="49" charset="0"/>
              </a:rPr>
              <a:t>(</a:t>
            </a:r>
            <a:r>
              <a:rPr lang="en-GB" altLang="en-NL" sz="1200" dirty="0" err="1">
                <a:latin typeface="Courier" panose="02070309020205020404" pitchFamily="49" charset="0"/>
              </a:rPr>
              <a:t>StandardScaler</a:t>
            </a:r>
            <a:r>
              <a:rPr lang="en-GB" altLang="en-NL" sz="1200" dirty="0">
                <a:latin typeface="Courier" panose="02070309020205020404" pitchFamily="49" charset="0"/>
              </a:rPr>
              <a:t>(), TSNE(</a:t>
            </a:r>
            <a:r>
              <a:rPr lang="en-GB" altLang="en-NL" sz="1200" dirty="0" err="1">
                <a:latin typeface="Courier" panose="02070309020205020404" pitchFamily="49" charset="0"/>
              </a:rPr>
              <a:t>n_components</a:t>
            </a:r>
            <a:r>
              <a:rPr lang="en-GB" altLang="en-NL" sz="1200" dirty="0">
                <a:latin typeface="Courier" panose="02070309020205020404" pitchFamily="49" charset="0"/>
              </a:rPr>
              <a:t>=2, </a:t>
            </a:r>
            <a:r>
              <a:rPr lang="en-GB" altLang="en-NL" sz="1200" dirty="0" err="1">
                <a:latin typeface="Courier" panose="02070309020205020404" pitchFamily="49" charset="0"/>
              </a:rPr>
              <a:t>init</a:t>
            </a:r>
            <a:r>
              <a:rPr lang="en-GB" altLang="en-NL" sz="1200" dirty="0">
                <a:latin typeface="Courier" panose="02070309020205020404" pitchFamily="49" charset="0"/>
              </a:rPr>
              <a:t>='</a:t>
            </a:r>
            <a:r>
              <a:rPr lang="en-GB" altLang="en-NL" sz="1200" dirty="0" err="1">
                <a:latin typeface="Courier" panose="02070309020205020404" pitchFamily="49" charset="0"/>
              </a:rPr>
              <a:t>pca</a:t>
            </a:r>
            <a:r>
              <a:rPr lang="en-GB" altLang="en-NL" sz="1200" dirty="0">
                <a:latin typeface="Courier" panose="02070309020205020404" pitchFamily="49" charset="0"/>
              </a:rPr>
              <a:t>'))</a:t>
            </a:r>
          </a:p>
          <a:p>
            <a:pPr marL="0" indent="-114300">
              <a:buNone/>
            </a:pPr>
            <a:r>
              <a:rPr lang="en-GB" altLang="en-NL" sz="1200" dirty="0" err="1">
                <a:latin typeface="Courier" panose="02070309020205020404" pitchFamily="49" charset="0"/>
              </a:rPr>
              <a:t>tsne.fit</a:t>
            </a:r>
            <a:r>
              <a:rPr lang="en-GB" altLang="en-NL" sz="1200" dirty="0">
                <a:latin typeface="Courier" panose="02070309020205020404" pitchFamily="49" charset="0"/>
              </a:rPr>
              <a:t>(X, y)</a:t>
            </a:r>
          </a:p>
          <a:p>
            <a:pPr marL="0" indent="-114300">
              <a:buNone/>
            </a:pPr>
            <a:r>
              <a:rPr lang="en-GB" altLang="en-NL" sz="1200" dirty="0">
                <a:latin typeface="Courier" panose="02070309020205020404" pitchFamily="49" charset="0"/>
              </a:rPr>
              <a:t>X_tsne_2d = </a:t>
            </a:r>
            <a:r>
              <a:rPr lang="en-GB" altLang="en-NL" sz="1200" dirty="0" err="1">
                <a:latin typeface="Courier" panose="02070309020205020404" pitchFamily="49" charset="0"/>
              </a:rPr>
              <a:t>tsne.fit_transform</a:t>
            </a:r>
            <a:r>
              <a:rPr lang="en-GB" altLang="en-NL" sz="1200" dirty="0">
                <a:latin typeface="Courier" panose="02070309020205020404" pitchFamily="49" charset="0"/>
              </a:rPr>
              <a:t>(X)</a:t>
            </a:r>
          </a:p>
          <a:p>
            <a:pPr marL="0" indent="-114300">
              <a:buNone/>
            </a:pPr>
            <a:r>
              <a:rPr lang="en-GB" altLang="en-NL" sz="1200" dirty="0" err="1">
                <a:latin typeface="Courier" panose="02070309020205020404" pitchFamily="49" charset="0"/>
              </a:rPr>
              <a:t>plt.scatter</a:t>
            </a:r>
            <a:r>
              <a:rPr lang="en-GB" altLang="en-NL" sz="1200" dirty="0">
                <a:latin typeface="Courier" panose="02070309020205020404" pitchFamily="49" charset="0"/>
              </a:rPr>
              <a:t>(X_tsne_2d[:, 0], X_tsne_2D[:, 1])</a:t>
            </a:r>
          </a:p>
          <a:p>
            <a:pPr marL="0" indent="0">
              <a:buFont typeface="Webdings" pitchFamily="2" charset="2"/>
              <a:buNone/>
            </a:pPr>
            <a:endParaRPr lang="en-GB" altLang="en-NL" sz="1200" dirty="0"/>
          </a:p>
          <a:p>
            <a:pPr marL="0" indent="0">
              <a:buFont typeface="Webdings" pitchFamily="2" charset="2"/>
              <a:buNone/>
            </a:pPr>
            <a:endParaRPr lang="en-NL" altLang="en-NL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4810</TotalTime>
  <Words>1308</Words>
  <Application>Microsoft Macintosh PowerPoint</Application>
  <PresentationFormat>On-screen Show (4:3)</PresentationFormat>
  <Paragraphs>235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Courier</vt:lpstr>
      <vt:lpstr>Courier New</vt:lpstr>
      <vt:lpstr>Times</vt:lpstr>
      <vt:lpstr>Webdings</vt:lpstr>
      <vt:lpstr>Office Theme</vt:lpstr>
      <vt:lpstr>Data Visualisation and Dimensionality Reduction</vt:lpstr>
      <vt:lpstr>Histograms</vt:lpstr>
      <vt:lpstr>Histograms (EW, bins = 5)</vt:lpstr>
      <vt:lpstr>Histograms (bins = 10)</vt:lpstr>
      <vt:lpstr>Histograms (bins = 56)</vt:lpstr>
      <vt:lpstr>Histograms (bins = 60, +4)</vt:lpstr>
      <vt:lpstr>Histograms (bins = 52, -4)</vt:lpstr>
      <vt:lpstr>Kernel Density Estimation</vt:lpstr>
      <vt:lpstr>Guessing the Right Bandwidth h in KDE</vt:lpstr>
      <vt:lpstr>Guessing the Right Bandwidth h in KDE</vt:lpstr>
      <vt:lpstr>Smaller Bandwidths</vt:lpstr>
      <vt:lpstr>Kernel Density Estimate</vt:lpstr>
      <vt:lpstr>KDE Artefacts</vt:lpstr>
      <vt:lpstr>Race Times in Speed Skating</vt:lpstr>
      <vt:lpstr>Subgroup-based KDE</vt:lpstr>
      <vt:lpstr>Principal Component Analysis (PCA)</vt:lpstr>
      <vt:lpstr>Principal Component Analysis</vt:lpstr>
      <vt:lpstr>Principal Component Analysis</vt:lpstr>
      <vt:lpstr>PCA on Scaled Data</vt:lpstr>
      <vt:lpstr>Principal Component Analysis</vt:lpstr>
      <vt:lpstr>PCA Scree Plot</vt:lpstr>
      <vt:lpstr>PCA Properties</vt:lpstr>
      <vt:lpstr>Break</vt:lpstr>
      <vt:lpstr>t-distributed Stochastic Neighbor Embedding</vt:lpstr>
      <vt:lpstr>Non-linear Dimensionality Reduction</vt:lpstr>
      <vt:lpstr>t-SNE Approach</vt:lpstr>
      <vt:lpstr>Quantify Similarity in High-dimensional Space</vt:lpstr>
      <vt:lpstr>Gaussian around Point i</vt:lpstr>
      <vt:lpstr>Quantify Similarity in Low-dimensional Target Space</vt:lpstr>
      <vt:lpstr>Gaussian vs. t-Distribution</vt:lpstr>
      <vt:lpstr>Comparing Two Probability Distributions</vt:lpstr>
      <vt:lpstr>Comparing Two Probability Distributions</vt:lpstr>
      <vt:lpstr>t-SNE on MNIST Dataset</vt:lpstr>
      <vt:lpstr>Perplexity</vt:lpstr>
      <vt:lpstr>Properties</vt:lpstr>
      <vt:lpstr>Sklearn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Data Science</dc:title>
  <dc:creator>Arno Knobbe</dc:creator>
  <cp:lastModifiedBy>Arno Knobbe</cp:lastModifiedBy>
  <cp:revision>24</cp:revision>
  <dcterms:created xsi:type="dcterms:W3CDTF">2020-12-03T11:35:22Z</dcterms:created>
  <dcterms:modified xsi:type="dcterms:W3CDTF">2024-10-01T09:48:52Z</dcterms:modified>
</cp:coreProperties>
</file>